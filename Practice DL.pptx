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embeddedFontLst>
    <p:embeddedFont>
      <p:font typeface="Rubik" pitchFamily="34" charset="0"/>
      <p:regular r:id="rId22"/>
      <p:bold r:id="rId23"/>
    </p:embeddedFont>
    <p:embeddedFont>
      <p:font typeface="JetBrains Mono" panose="02000009000000000000" pitchFamily="49" charset="0"/>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second practice project. The first one was real-time ML on BTC prices. This time I did four deep learning topics one at a time, ran each script myself, and wrote down what happened, including the things that broke.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data only, no API keys. Each script has a --quick mode I ran first to check it works before the full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Augmentation (random flips and shifts) kept train and val close: 89.5% vs 88.6%, so it barely overfit.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finetuned ResNet on 2k got 100% train accuracy but 88% val, so it memorised the training set. It still generalised way better than training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“not bad at all” failure is the reason for B2 and B3: models that actually read the words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 next to excellent is from people writing ratings like 7/10 in their reviews. This step is also where I hit the GPU out-of-memory error, see the problems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SST-2 model was the only one to get “not bad at all” right, but it also called “great actors, terrible script” positive. Mine got that one right (0.01).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logreg had learned bounce from my old prices.csv and just copied it, so it also got 42%. I also fixed two display bugs after this run: the price axis started at 0, and the no-move counter included the old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added a momentum rule (same as last move) so I could watch the mirror image of bounce. I also raised the logreg learning rate so it adapts, but then it kept changing its mind and only got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curve stays around 55% because it still takes a random action 5% of the time while learning, and one random step on the ice can drop you in a hole. The final greedy policy gets 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settings (explore for 10k steps, slow target network) got stuck around 300. Exploring for a shorter time and updating the target faster got to 500. Also honest point: CartPole is easy if you know the physics, my 1-line rule gets 500 too. The Q-table needs hand-picked bins and would explode with more state numbers, which is the real reason for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comes from my own runs on the Mac, pasted from the terminal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from these: don’t depend on one download link, check the traceback line numbers, and save before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watching. All scripts are in the practice-dl folder with a requirements.txt, so anyone can run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13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50"/>
            <a:ext cx="10566400" cy="4013250"/>
          </a:xfrm>
          <a:prstGeom prst="rect">
            <a:avLst/>
          </a:prstGeom>
          <a:noFill/>
          <a:ln/>
        </p:spPr>
        <p:txBody>
          <a:bodyPr wrap="square" lIns="0" tIns="0" rIns="0" bIns="0" rtlCol="0" anchor="t"/>
          <a:lstStyle>
            <a:lvl1pPr algn="l" indent="0" marL="0">
              <a:lnSpc>
                <a:spcPct val="140000"/>
              </a:lnSpc>
              <a:buNone/>
              <a:defRPr lang="en-US" sz="1600" dirty="0">
                <a:solidFill>
                  <a:srgbClr val="16213A"/>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13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50"/>
            <a:ext cx="10566400" cy="4013250"/>
          </a:xfrm>
          <a:prstGeom prst="rect">
            <a:avLst/>
          </a:prstGeom>
          <a:noFill/>
          <a:ln/>
        </p:spPr>
        <p:txBody>
          <a:bodyPr wrap="square" lIns="0" tIns="0" rIns="0" bIns="0" rtlCol="0" anchor="t"/>
          <a:lstStyle>
            <a:lvl1pPr algn="l" indent="0" marL="0">
              <a:lnSpc>
                <a:spcPct val="140000"/>
              </a:lnSpc>
              <a:buNone/>
              <a:defRPr lang="en-US" sz="1600" dirty="0">
                <a:solidFill>
                  <a:srgbClr val="16213A"/>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0A774"/>
                </a:solidFill>
                <a:latin typeface="JetBrains Mono" pitchFamily="49" charset="0"/>
                <a:ea typeface="JetBrains Mono" pitchFamily="49" charset="-122"/>
                <a:cs typeface="JetBrains Mono" pitchFamily="49" charset="-120"/>
              </a:rPr>
              <a:t>PRACTICE DL · OCT 2026</a:t>
            </a:r>
            <a:endParaRPr lang="en-US" sz="1400" dirty="0"/>
          </a:p>
        </p:txBody>
      </p:sp>
      <p:sp>
        <p:nvSpPr>
          <p:cNvPr id="3" name="Text 1"/>
          <p:cNvSpPr/>
          <p:nvPr>
            <p:ph type="title"/>
          </p:nvPr>
        </p:nvSpPr>
        <p:spPr>
          <a:xfrm>
            <a:off x="812800" y="193675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3EE"/>
                </a:solidFill>
                <a:latin typeface="Rubik" pitchFamily="34" charset="0"/>
                <a:ea typeface="Rubik" pitchFamily="34" charset="-122"/>
                <a:cs typeface="Rubik" pitchFamily="34" charset="-120"/>
              </a:rPr>
              <a:t>Deep learning,</a:t>
            </a:r>
            <a:endParaRPr lang="en-US" sz="6000" dirty="0"/>
          </a:p>
          <a:p>
            <a:pPr algn="l" indent="0" marL="0">
              <a:lnSpc>
                <a:spcPts val="6300"/>
              </a:lnSpc>
              <a:buNone/>
            </a:pPr>
            <a:r>
              <a:rPr lang="en-US" sz="6000" b="1" i="0" dirty="0">
                <a:solidFill>
                  <a:srgbClr val="F5F3EE"/>
                </a:solidFill>
                <a:latin typeface="Rubik" pitchFamily="34" charset="0"/>
                <a:ea typeface="Rubik" pitchFamily="34" charset="-122"/>
                <a:cs typeface="Rubik" pitchFamily="34" charset="-120"/>
              </a:rPr>
              <a:t>A to D</a:t>
            </a:r>
            <a:endParaRPr lang="en-US" sz="6000" dirty="0"/>
          </a:p>
        </p:txBody>
      </p:sp>
      <p:sp>
        <p:nvSpPr>
          <p:cNvPr id="4" name="Text 2"/>
          <p:cNvSpPr/>
          <p:nvPr/>
        </p:nvSpPr>
        <p:spPr>
          <a:xfrm>
            <a:off x="812800" y="3740150"/>
            <a:ext cx="8502650" cy="10541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2E0"/>
                </a:solidFill>
                <a:latin typeface="Rubik" pitchFamily="34" charset="0"/>
                <a:ea typeface="Rubik" pitchFamily="34" charset="-122"/>
                <a:cs typeface="Rubik" pitchFamily="34" charset="-120"/>
              </a:rPr>
              <a:t>CNNs, NLP, a live app and reinforcement learning. Everything here ran on my MacBook, on real data, and I compared every model with a baseline.</a:t>
            </a:r>
            <a:endParaRPr lang="en-US" sz="2000" dirty="0"/>
          </a:p>
        </p:txBody>
      </p:sp>
      <p:sp>
        <p:nvSpPr>
          <p:cNvPr id="5" name="Text 3"/>
          <p:cNvSpPr/>
          <p:nvPr/>
        </p:nvSpPr>
        <p:spPr>
          <a:xfrm>
            <a:off x="812800" y="5643910"/>
            <a:ext cx="1160611" cy="401290"/>
          </a:xfrm>
          <a:prstGeom prst="roundRect">
            <a:avLst>
              <a:gd name="adj" fmla="val 50000"/>
            </a:avLst>
          </a:prstGeom>
          <a:solidFill>
            <a:srgbClr val="F0A774"/>
          </a:solidFill>
          <a:ln/>
        </p:spPr>
        <p:txBody>
          <a:bodyPr wrap="none" lIns="0" tIns="0" rIns="0" bIns="0" rtlCol="0" anchor="ctr">
            <a:normAutofit/>
          </a:bodyPr>
          <a:lstStyle/>
          <a:p>
            <a:pPr algn="ctr" indent="0" marL="0">
              <a:lnSpc>
                <a:spcPts val="1960"/>
              </a:lnSpc>
              <a:buNone/>
            </a:pPr>
            <a:r>
              <a:rPr lang="en-US" sz="1400" dirty="0">
                <a:solidFill>
                  <a:srgbClr val="16213A"/>
                </a:solidFill>
                <a:latin typeface="Rubik" pitchFamily="34" charset="0"/>
                <a:ea typeface="Rubik" pitchFamily="34" charset="-122"/>
                <a:cs typeface="Rubik" pitchFamily="34" charset="-120"/>
              </a:rPr>
              <a:t>A · images</a:t>
            </a:r>
            <a:endParaRPr lang="en-US" sz="1400" dirty="0"/>
          </a:p>
        </p:txBody>
      </p:sp>
      <p:sp>
        <p:nvSpPr>
          <p:cNvPr id="6" name="Text 4"/>
          <p:cNvSpPr/>
          <p:nvPr/>
        </p:nvSpPr>
        <p:spPr>
          <a:xfrm>
            <a:off x="2125811" y="5643910"/>
            <a:ext cx="898227" cy="401290"/>
          </a:xfrm>
          <a:prstGeom prst="roundRect">
            <a:avLst>
              <a:gd name="adj" fmla="val 50000"/>
            </a:avLst>
          </a:prstGeom>
          <a:solidFill>
            <a:srgbClr val="F0A774"/>
          </a:solidFill>
          <a:ln/>
        </p:spPr>
        <p:txBody>
          <a:bodyPr wrap="none" lIns="0" tIns="0" rIns="0" bIns="0" rtlCol="0" anchor="ctr">
            <a:normAutofit/>
          </a:bodyPr>
          <a:lstStyle/>
          <a:p>
            <a:pPr algn="ctr" indent="0" marL="0">
              <a:lnSpc>
                <a:spcPts val="1960"/>
              </a:lnSpc>
              <a:buNone/>
            </a:pPr>
            <a:r>
              <a:rPr lang="en-US" sz="1400" dirty="0">
                <a:solidFill>
                  <a:srgbClr val="16213A"/>
                </a:solidFill>
                <a:latin typeface="Rubik" pitchFamily="34" charset="0"/>
                <a:ea typeface="Rubik" pitchFamily="34" charset="-122"/>
                <a:cs typeface="Rubik" pitchFamily="34" charset="-120"/>
              </a:rPr>
              <a:t>B · text</a:t>
            </a:r>
            <a:endParaRPr lang="en-US" sz="1400" dirty="0"/>
          </a:p>
        </p:txBody>
      </p:sp>
      <p:sp>
        <p:nvSpPr>
          <p:cNvPr id="7" name="Text 5"/>
          <p:cNvSpPr/>
          <p:nvPr/>
        </p:nvSpPr>
        <p:spPr>
          <a:xfrm>
            <a:off x="3176439" y="5643910"/>
            <a:ext cx="1120130" cy="401290"/>
          </a:xfrm>
          <a:prstGeom prst="roundRect">
            <a:avLst>
              <a:gd name="adj" fmla="val 50000"/>
            </a:avLst>
          </a:prstGeom>
          <a:solidFill>
            <a:srgbClr val="F0A774"/>
          </a:solidFill>
          <a:ln/>
        </p:spPr>
        <p:txBody>
          <a:bodyPr wrap="none" lIns="0" tIns="0" rIns="0" bIns="0" rtlCol="0" anchor="ctr">
            <a:normAutofit/>
          </a:bodyPr>
          <a:lstStyle/>
          <a:p>
            <a:pPr algn="ctr" indent="0" marL="0">
              <a:lnSpc>
                <a:spcPts val="1960"/>
              </a:lnSpc>
              <a:buNone/>
            </a:pPr>
            <a:r>
              <a:rPr lang="en-US" sz="1400" dirty="0">
                <a:solidFill>
                  <a:srgbClr val="16213A"/>
                </a:solidFill>
                <a:latin typeface="Rubik" pitchFamily="34" charset="0"/>
                <a:ea typeface="Rubik" pitchFamily="34" charset="-122"/>
                <a:cs typeface="Rubik" pitchFamily="34" charset="-120"/>
              </a:rPr>
              <a:t>C · deploy</a:t>
            </a:r>
            <a:endParaRPr lang="en-US" sz="1400" dirty="0"/>
          </a:p>
        </p:txBody>
      </p:sp>
      <p:sp>
        <p:nvSpPr>
          <p:cNvPr id="8" name="Text 6"/>
          <p:cNvSpPr/>
          <p:nvPr/>
        </p:nvSpPr>
        <p:spPr>
          <a:xfrm>
            <a:off x="4448969" y="5643910"/>
            <a:ext cx="789484" cy="401290"/>
          </a:xfrm>
          <a:prstGeom prst="roundRect">
            <a:avLst>
              <a:gd name="adj" fmla="val 50000"/>
            </a:avLst>
          </a:prstGeom>
          <a:solidFill>
            <a:srgbClr val="F0A774"/>
          </a:solidFill>
          <a:ln/>
        </p:spPr>
        <p:txBody>
          <a:bodyPr wrap="none" lIns="0" tIns="0" rIns="0" bIns="0" rtlCol="0" anchor="ctr">
            <a:normAutofit/>
          </a:bodyPr>
          <a:lstStyle/>
          <a:p>
            <a:pPr algn="ctr" indent="0" marL="0">
              <a:lnSpc>
                <a:spcPts val="1960"/>
              </a:lnSpc>
              <a:buNone/>
            </a:pPr>
            <a:r>
              <a:rPr lang="en-US" sz="1400" dirty="0">
                <a:solidFill>
                  <a:srgbClr val="16213A"/>
                </a:solidFill>
                <a:latin typeface="Rubik" pitchFamily="34" charset="0"/>
                <a:ea typeface="Rubik" pitchFamily="34" charset="-122"/>
                <a:cs typeface="Rubik" pitchFamily="34" charset="-120"/>
              </a:rPr>
              <a:t>D · RL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41C"/>
                </a:solidFill>
                <a:latin typeface="JetBrains Mono" pitchFamily="49" charset="0"/>
                <a:ea typeface="JetBrains Mono" pitchFamily="49" charset="-122"/>
                <a:cs typeface="JetBrains Mono" pitchFamily="49" charset="-120"/>
              </a:rPr>
              <a:t>THE PLAN</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Rubik" pitchFamily="34" charset="0"/>
                <a:ea typeface="Rubik" pitchFamily="34" charset="-122"/>
                <a:cs typeface="Rubik" pitchFamily="34" charset="-120"/>
              </a:rPr>
              <a:t>Four topics, one step at a time</a:t>
            </a:r>
            <a:endParaRPr lang="en-US" sz="3200" dirty="0"/>
          </a:p>
        </p:txBody>
      </p:sp>
      <p:sp>
        <p:nvSpPr>
          <p:cNvPr id="4" name="Shape 2"/>
          <p:cNvSpPr/>
          <p:nvPr/>
        </p:nvSpPr>
        <p:spPr>
          <a:xfrm>
            <a:off x="815975" y="1984325"/>
            <a:ext cx="2520950" cy="1995091"/>
          </a:xfrm>
          <a:prstGeom prst="roundRect">
            <a:avLst>
              <a:gd name="adj" fmla="val 4933"/>
            </a:avLst>
          </a:prstGeom>
          <a:solidFill>
            <a:srgbClr val="FFFFFF"/>
          </a:solidFill>
          <a:ln w="6350">
            <a:solidFill>
              <a:srgbClr val="E1DDD3"/>
            </a:solidFill>
            <a:prstDash val="solid"/>
          </a:ln>
        </p:spPr>
      </p:sp>
      <p:sp>
        <p:nvSpPr>
          <p:cNvPr id="5" name="Text 3"/>
          <p:cNvSpPr/>
          <p:nvPr/>
        </p:nvSpPr>
        <p:spPr>
          <a:xfrm>
            <a:off x="1047750" y="2216100"/>
            <a:ext cx="211912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D8C"/>
                </a:solidFill>
                <a:latin typeface="JetBrains Mono" pitchFamily="49" charset="0"/>
                <a:ea typeface="JetBrains Mono" pitchFamily="49" charset="-122"/>
                <a:cs typeface="JetBrains Mono" pitchFamily="49" charset="-120"/>
              </a:rPr>
              <a:t>A</a:t>
            </a:r>
            <a:endParaRPr lang="en-US" sz="2200" dirty="0"/>
          </a:p>
        </p:txBody>
      </p:sp>
      <p:sp>
        <p:nvSpPr>
          <p:cNvPr id="6" name="Text 4"/>
          <p:cNvSpPr/>
          <p:nvPr/>
        </p:nvSpPr>
        <p:spPr>
          <a:xfrm>
            <a:off x="1047750" y="2708821"/>
            <a:ext cx="211912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Rubik" pitchFamily="34" charset="0"/>
                <a:ea typeface="Rubik" pitchFamily="34" charset="-122"/>
                <a:cs typeface="Rubik" pitchFamily="34" charset="-120"/>
              </a:rPr>
              <a:t>Images</a:t>
            </a:r>
            <a:endParaRPr lang="en-US" sz="1600" dirty="0"/>
          </a:p>
        </p:txBody>
      </p:sp>
      <p:sp>
        <p:nvSpPr>
          <p:cNvPr id="7" name="Text 5"/>
          <p:cNvSpPr/>
          <p:nvPr/>
        </p:nvSpPr>
        <p:spPr>
          <a:xfrm>
            <a:off x="1047750" y="3054251"/>
            <a:ext cx="211912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Rubik" pitchFamily="34" charset="0"/>
                <a:ea typeface="Rubik" pitchFamily="34" charset="-122"/>
                <a:cs typeface="Rubik" pitchFamily="34" charset="-120"/>
              </a:rPr>
              <a:t>CNN from scratch on CIFAR-10, then a pretrained ResNet18</a:t>
            </a:r>
            <a:endParaRPr lang="en-US" sz="1300" dirty="0"/>
          </a:p>
        </p:txBody>
      </p:sp>
      <p:sp>
        <p:nvSpPr>
          <p:cNvPr id="8" name="Shape 6"/>
          <p:cNvSpPr/>
          <p:nvPr/>
        </p:nvSpPr>
        <p:spPr>
          <a:xfrm>
            <a:off x="3495675" y="1984325"/>
            <a:ext cx="2520950" cy="1995091"/>
          </a:xfrm>
          <a:prstGeom prst="roundRect">
            <a:avLst>
              <a:gd name="adj" fmla="val 4933"/>
            </a:avLst>
          </a:prstGeom>
          <a:solidFill>
            <a:srgbClr val="FFFFFF"/>
          </a:solidFill>
          <a:ln w="6350">
            <a:solidFill>
              <a:srgbClr val="E1DDD3"/>
            </a:solidFill>
            <a:prstDash val="solid"/>
          </a:ln>
        </p:spPr>
      </p:sp>
      <p:sp>
        <p:nvSpPr>
          <p:cNvPr id="9" name="Text 7"/>
          <p:cNvSpPr/>
          <p:nvPr/>
        </p:nvSpPr>
        <p:spPr>
          <a:xfrm>
            <a:off x="3727450" y="2216100"/>
            <a:ext cx="211912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D8C"/>
                </a:solidFill>
                <a:latin typeface="JetBrains Mono" pitchFamily="49" charset="0"/>
                <a:ea typeface="JetBrains Mono" pitchFamily="49" charset="-122"/>
                <a:cs typeface="JetBrains Mono" pitchFamily="49" charset="-120"/>
              </a:rPr>
              <a:t>B</a:t>
            </a:r>
            <a:endParaRPr lang="en-US" sz="2200" dirty="0"/>
          </a:p>
        </p:txBody>
      </p:sp>
      <p:sp>
        <p:nvSpPr>
          <p:cNvPr id="10" name="Text 8"/>
          <p:cNvSpPr/>
          <p:nvPr/>
        </p:nvSpPr>
        <p:spPr>
          <a:xfrm>
            <a:off x="3727450" y="2708821"/>
            <a:ext cx="211912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Rubik" pitchFamily="34" charset="0"/>
                <a:ea typeface="Rubik" pitchFamily="34" charset="-122"/>
                <a:cs typeface="Rubik" pitchFamily="34" charset="-120"/>
              </a:rPr>
              <a:t>Text</a:t>
            </a:r>
            <a:endParaRPr lang="en-US" sz="1600" dirty="0"/>
          </a:p>
        </p:txBody>
      </p:sp>
      <p:sp>
        <p:nvSpPr>
          <p:cNvPr id="11" name="Text 9"/>
          <p:cNvSpPr/>
          <p:nvPr/>
        </p:nvSpPr>
        <p:spPr>
          <a:xfrm>
            <a:off x="3727450" y="3054251"/>
            <a:ext cx="211912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Rubik" pitchFamily="34" charset="0"/>
                <a:ea typeface="Rubik" pitchFamily="34" charset="-122"/>
                <a:cs typeface="Rubik" pitchFamily="34" charset="-120"/>
              </a:rPr>
              <a:t>IMDB reviews: bag of words, embeddings + LSTM, DistilBERT</a:t>
            </a:r>
            <a:endParaRPr lang="en-US" sz="1300" dirty="0"/>
          </a:p>
        </p:txBody>
      </p:sp>
      <p:sp>
        <p:nvSpPr>
          <p:cNvPr id="12" name="Shape 10"/>
          <p:cNvSpPr/>
          <p:nvPr/>
        </p:nvSpPr>
        <p:spPr>
          <a:xfrm>
            <a:off x="6175375" y="1984325"/>
            <a:ext cx="2520950" cy="1995091"/>
          </a:xfrm>
          <a:prstGeom prst="roundRect">
            <a:avLst>
              <a:gd name="adj" fmla="val 4933"/>
            </a:avLst>
          </a:prstGeom>
          <a:solidFill>
            <a:srgbClr val="FFFFFF"/>
          </a:solidFill>
          <a:ln w="6350">
            <a:solidFill>
              <a:srgbClr val="E1DDD3"/>
            </a:solidFill>
            <a:prstDash val="solid"/>
          </a:ln>
        </p:spPr>
      </p:sp>
      <p:sp>
        <p:nvSpPr>
          <p:cNvPr id="13" name="Text 11"/>
          <p:cNvSpPr/>
          <p:nvPr/>
        </p:nvSpPr>
        <p:spPr>
          <a:xfrm>
            <a:off x="6407150" y="2216100"/>
            <a:ext cx="211912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D8C"/>
                </a:solidFill>
                <a:latin typeface="JetBrains Mono" pitchFamily="49" charset="0"/>
                <a:ea typeface="JetBrains Mono" pitchFamily="49" charset="-122"/>
                <a:cs typeface="JetBrains Mono" pitchFamily="49" charset="-120"/>
              </a:rPr>
              <a:t>C</a:t>
            </a:r>
            <a:endParaRPr lang="en-US" sz="2200" dirty="0"/>
          </a:p>
        </p:txBody>
      </p:sp>
      <p:sp>
        <p:nvSpPr>
          <p:cNvPr id="14" name="Text 12"/>
          <p:cNvSpPr/>
          <p:nvPr/>
        </p:nvSpPr>
        <p:spPr>
          <a:xfrm>
            <a:off x="6407150" y="2708821"/>
            <a:ext cx="211912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Rubik" pitchFamily="34" charset="0"/>
                <a:ea typeface="Rubik" pitchFamily="34" charset="-122"/>
                <a:cs typeface="Rubik" pitchFamily="34" charset="-120"/>
              </a:rPr>
              <a:t>Deploy</a:t>
            </a:r>
            <a:endParaRPr lang="en-US" sz="1600" dirty="0"/>
          </a:p>
        </p:txBody>
      </p:sp>
      <p:sp>
        <p:nvSpPr>
          <p:cNvPr id="15" name="Text 13"/>
          <p:cNvSpPr/>
          <p:nvPr/>
        </p:nvSpPr>
        <p:spPr>
          <a:xfrm>
            <a:off x="6407150" y="3054251"/>
            <a:ext cx="211912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Rubik" pitchFamily="34" charset="0"/>
                <a:ea typeface="Rubik" pitchFamily="34" charset="-122"/>
                <a:cs typeface="Rubik" pitchFamily="34" charset="-120"/>
              </a:rPr>
              <a:t>My BTC up/down model as a live Streamlit web app</a:t>
            </a:r>
            <a:endParaRPr lang="en-US" sz="1300" dirty="0"/>
          </a:p>
        </p:txBody>
      </p:sp>
      <p:sp>
        <p:nvSpPr>
          <p:cNvPr id="16" name="Shape 14"/>
          <p:cNvSpPr/>
          <p:nvPr/>
        </p:nvSpPr>
        <p:spPr>
          <a:xfrm>
            <a:off x="8855075" y="1984325"/>
            <a:ext cx="2520950" cy="1995091"/>
          </a:xfrm>
          <a:prstGeom prst="roundRect">
            <a:avLst>
              <a:gd name="adj" fmla="val 4933"/>
            </a:avLst>
          </a:prstGeom>
          <a:solidFill>
            <a:srgbClr val="FFFFFF"/>
          </a:solidFill>
          <a:ln w="6350">
            <a:solidFill>
              <a:srgbClr val="E1DDD3"/>
            </a:solidFill>
            <a:prstDash val="solid"/>
          </a:ln>
        </p:spPr>
      </p:sp>
      <p:sp>
        <p:nvSpPr>
          <p:cNvPr id="17" name="Text 15"/>
          <p:cNvSpPr/>
          <p:nvPr/>
        </p:nvSpPr>
        <p:spPr>
          <a:xfrm>
            <a:off x="9086850" y="2216100"/>
            <a:ext cx="211912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D8C"/>
                </a:solidFill>
                <a:latin typeface="JetBrains Mono" pitchFamily="49" charset="0"/>
                <a:ea typeface="JetBrains Mono" pitchFamily="49" charset="-122"/>
                <a:cs typeface="JetBrains Mono" pitchFamily="49" charset="-120"/>
              </a:rPr>
              <a:t>D</a:t>
            </a:r>
            <a:endParaRPr lang="en-US" sz="2200" dirty="0"/>
          </a:p>
        </p:txBody>
      </p:sp>
      <p:sp>
        <p:nvSpPr>
          <p:cNvPr id="18" name="Text 16"/>
          <p:cNvSpPr/>
          <p:nvPr/>
        </p:nvSpPr>
        <p:spPr>
          <a:xfrm>
            <a:off x="9086850" y="2708821"/>
            <a:ext cx="211912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Rubik" pitchFamily="34" charset="0"/>
                <a:ea typeface="Rubik" pitchFamily="34" charset="-122"/>
                <a:cs typeface="Rubik" pitchFamily="34" charset="-120"/>
              </a:rPr>
              <a:t>RL</a:t>
            </a:r>
            <a:endParaRPr lang="en-US" sz="1600" dirty="0"/>
          </a:p>
        </p:txBody>
      </p:sp>
      <p:sp>
        <p:nvSpPr>
          <p:cNvPr id="19" name="Text 17"/>
          <p:cNvSpPr/>
          <p:nvPr/>
        </p:nvSpPr>
        <p:spPr>
          <a:xfrm>
            <a:off x="9086850" y="3054251"/>
            <a:ext cx="211912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Rubik" pitchFamily="34" charset="0"/>
                <a:ea typeface="Rubik" pitchFamily="34" charset="-122"/>
                <a:cs typeface="Rubik" pitchFamily="34" charset="-120"/>
              </a:rPr>
              <a:t>Q-learning on FrozenLake and Taxi, DQN on CartPole</a:t>
            </a:r>
            <a:endParaRPr lang="en-US" sz="1300" dirty="0"/>
          </a:p>
        </p:txBody>
      </p:sp>
      <p:sp>
        <p:nvSpPr>
          <p:cNvPr id="20" name="Text 18"/>
          <p:cNvSpPr/>
          <p:nvPr/>
        </p:nvSpPr>
        <p:spPr>
          <a:xfrm>
            <a:off x="812800" y="4236591"/>
            <a:ext cx="10566400" cy="939800"/>
          </a:xfrm>
          <a:prstGeom prst="roundRect">
            <a:avLst>
              <a:gd name="adj" fmla="val 10811"/>
            </a:avLst>
          </a:prstGeom>
          <a:solidFill>
            <a:srgbClr val="16213A"/>
          </a:solidFill>
          <a:ln/>
        </p:spPr>
        <p:txBody>
          <a:bodyPr wrap="square" lIns="224242" tIns="160742" rIns="0" bIns="160742" rtlCol="0" anchor="ctr">
            <a:normAutofit/>
          </a:bodyPr>
          <a:lstStyle/>
          <a:p>
            <a:pPr algn="l" indent="0" marL="0">
              <a:lnSpc>
                <a:spcPts val="2100"/>
              </a:lnSpc>
              <a:buNone/>
            </a:pPr>
            <a:r>
              <a:rPr lang="en-US" sz="1500" dirty="0">
                <a:solidFill>
                  <a:srgbClr val="F5F3EE"/>
                </a:solidFill>
                <a:latin typeface="Rubik" pitchFamily="34" charset="0"/>
                <a:ea typeface="Rubik" pitchFamily="34" charset="-122"/>
                <a:cs typeface="Rubik" pitchFamily="34" charset="-120"/>
              </a:rPr>
              <a:t>My rule for every step: </a:t>
            </a:r>
            <a:r>
              <a:rPr lang="en-US" sz="1500" b="1" dirty="0">
                <a:solidFill>
                  <a:srgbClr val="F5F3EE"/>
                </a:solidFill>
                <a:latin typeface="Rubik" pitchFamily="34" charset="0"/>
                <a:ea typeface="Rubik" pitchFamily="34" charset="-122"/>
                <a:cs typeface="Rubik" pitchFamily="34" charset="-120"/>
              </a:rPr>
              <a:t>always run a simple baseline next to the model</a:t>
            </a:r>
            <a:r>
              <a:rPr lang="en-US" sz="1500" dirty="0">
                <a:solidFill>
                  <a:srgbClr val="F5F3EE"/>
                </a:solidFill>
                <a:latin typeface="Rubik" pitchFamily="34" charset="0"/>
                <a:ea typeface="Rubik" pitchFamily="34" charset="-122"/>
                <a:cs typeface="Rubik" pitchFamily="34" charset="-120"/>
              </a:rPr>
              <a:t>, so I know whether it actually learned something.</a:t>
            </a:r>
            <a:endParaRPr lang="en-US" sz="15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Setup: MacBook (M-series GPU via PyTorch MPS), Python 3.12, VS Code · practice dl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41C"/>
                </a:solidFill>
                <a:latin typeface="JetBrains Mono" pitchFamily="49" charset="0"/>
                <a:ea typeface="JetBrains Mono" pitchFamily="49" charset="-122"/>
                <a:cs typeface="JetBrains Mono" pitchFamily="49" charset="-120"/>
              </a:rPr>
              <a:t>A1 · CNN FROM SCRATCH · CIFAR-10</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Rubik" pitchFamily="34" charset="0"/>
                <a:ea typeface="Rubik" pitchFamily="34" charset="-122"/>
                <a:cs typeface="Rubik" pitchFamily="34" charset="-120"/>
              </a:rPr>
              <a:t>Fewer weights, way better results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6083300" cy="2063750"/>
        </p:xfrm>
        <a:graphic>
          <a:graphicData uri="http://schemas.openxmlformats.org/drawingml/2006/table">
            <a:tbl>
              <a:tblPr/>
              <a:tblGrid>
                <a:gridCol w="3163316"/>
                <a:gridCol w="1338326"/>
                <a:gridCol w="1581658"/>
              </a:tblGrid>
              <a:tr h="412750">
                <a:tc>
                  <a:txBody>
                    <a:bodyPr/>
                    <a:lstStyle/>
                    <a:p>
                      <a:pPr indent="0" marL="0">
                        <a:lnSpc>
                          <a:spcPts val="2100"/>
                        </a:lnSpc>
                        <a:buNone/>
                      </a:pPr>
                      <a:r>
                        <a:rPr lang="en-US" sz="1500" b="1" dirty="0">
                          <a:solidFill>
                            <a:srgbClr val="16213A"/>
                          </a:solidFill>
                          <a:latin typeface="Rubik" pitchFamily="34" charset="0"/>
                          <a:ea typeface="Rubik" pitchFamily="34" charset="-122"/>
                          <a:cs typeface="Rubik" pitchFamily="34" charset="-120"/>
                        </a:rPr>
                        <a:t>model</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2100"/>
                        </a:lnSpc>
                        <a:buNone/>
                      </a:pPr>
                      <a:r>
                        <a:rPr lang="en-US" sz="1500" b="1" dirty="0">
                          <a:solidFill>
                            <a:srgbClr val="16213A"/>
                          </a:solidFill>
                          <a:latin typeface="Rubik" pitchFamily="34" charset="0"/>
                          <a:ea typeface="Rubik" pitchFamily="34" charset="-122"/>
                          <a:cs typeface="Rubik" pitchFamily="34" charset="-120"/>
                        </a:rPr>
                        <a:t>test acc</a:t>
                      </a:r>
                      <a:endParaRPr lang="en-US" sz="1500" dirty="0">
                        <a:latin typeface="Rubik" charset="0"/>
                        <a:ea typeface="Rubik" charset="0"/>
                        <a:cs typeface="Rubik" charset="0"/>
                      </a:endParaRPr>
                    </a:p>
                  </a:txBody>
                  <a:tcPr marL="66675" marR="66675" marT="66675" marB="6667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2100"/>
                        </a:lnSpc>
                        <a:buNone/>
                      </a:pPr>
                      <a:r>
                        <a:rPr lang="en-US" sz="1500" b="1" dirty="0">
                          <a:solidFill>
                            <a:srgbClr val="16213A"/>
                          </a:solidFill>
                          <a:latin typeface="Rubik" pitchFamily="34" charset="0"/>
                          <a:ea typeface="Rubik" pitchFamily="34" charset="-122"/>
                          <a:cs typeface="Rubik" pitchFamily="34" charset="-120"/>
                        </a:rPr>
                        <a:t>weights</a:t>
                      </a:r>
                      <a:endParaRPr lang="en-US" sz="1500" dirty="0">
                        <a:latin typeface="Rubik" charset="0"/>
                        <a:ea typeface="Rubik" charset="0"/>
                        <a:cs typeface="Rubik" charset="0"/>
                      </a:endParaRPr>
                    </a:p>
                  </a:txBody>
                  <a:tcPr marL="66675" marR="66675" marT="66675" marB="6667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just guessing</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10.0%</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linear (pixels)</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40.1%</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30,730</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MLP</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51.7%</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1,707,274</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CNN</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88.0%</a:t>
                      </a:r>
                      <a:endParaRPr lang="en-US" sz="1500" dirty="0">
                        <a:latin typeface="Rubik" charset="0"/>
                        <a:ea typeface="Rubik" charset="0"/>
                        <a:cs typeface="Rubik" charset="0"/>
                      </a:endParaRPr>
                    </a:p>
                  </a:txBody>
                  <a:tcPr marL="66675" marR="66675" marT="66675" marB="66675"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289,194</a:t>
                      </a:r>
                      <a:endParaRPr lang="en-US" sz="1500" dirty="0">
                        <a:latin typeface="Rubik" charset="0"/>
                        <a:ea typeface="Rubik" charset="0"/>
                        <a:cs typeface="Rubik" charset="0"/>
                      </a:endParaRPr>
                    </a:p>
                  </a:txBody>
                  <a:tcPr marL="66675" marR="66675" marT="66675" marB="66675"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r>
            </a:tbl>
          </a:graphicData>
        </a:graphic>
      </p:graphicFrame>
      <p:sp>
        <p:nvSpPr>
          <p:cNvPr id="5" name="Text 2"/>
          <p:cNvSpPr/>
          <p:nvPr/>
        </p:nvSpPr>
        <p:spPr>
          <a:xfrm>
            <a:off x="7315200" y="1981150"/>
            <a:ext cx="418592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160"/>
                </a:solidFill>
                <a:latin typeface="Rubik" pitchFamily="34" charset="0"/>
                <a:ea typeface="Rubik" pitchFamily="34" charset="-122"/>
                <a:cs typeface="Rubik" pitchFamily="34" charset="-120"/>
              </a:rPr>
              <a:t>The CNN has about </a:t>
            </a:r>
            <a:r>
              <a:rPr lang="en-US" sz="1500" b="1" dirty="0">
                <a:solidFill>
                  <a:srgbClr val="16213A"/>
                </a:solidFill>
                <a:latin typeface="Rubik" pitchFamily="34" charset="0"/>
                <a:ea typeface="Rubik" pitchFamily="34" charset="-122"/>
                <a:cs typeface="Rubik" pitchFamily="34" charset="-120"/>
              </a:rPr>
              <a:t>6x fewer weights</a:t>
            </a:r>
            <a:r>
              <a:rPr lang="en-US" sz="1500" dirty="0">
                <a:solidFill>
                  <a:srgbClr val="4A5160"/>
                </a:solidFill>
                <a:latin typeface="Rubik" pitchFamily="34" charset="0"/>
                <a:ea typeface="Rubik" pitchFamily="34" charset="-122"/>
                <a:cs typeface="Rubik" pitchFamily="34" charset="-120"/>
              </a:rPr>
              <a:t> than the MLP and still beats it by 36 points. Sliding the same small filters over the whole picture beats giving every pixel its own weight.</a:t>
            </a:r>
            <a:endParaRPr lang="en-US" sz="1500" dirty="0"/>
          </a:p>
        </p:txBody>
      </p:sp>
      <p:sp>
        <p:nvSpPr>
          <p:cNvPr id="6" name="Text 3"/>
          <p:cNvSpPr/>
          <p:nvPr/>
        </p:nvSpPr>
        <p:spPr>
          <a:xfrm>
            <a:off x="7315200" y="3200350"/>
            <a:ext cx="418592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160"/>
                </a:solidFill>
                <a:latin typeface="Rubik" pitchFamily="34" charset="0"/>
                <a:ea typeface="Rubik" pitchFamily="34" charset="-122"/>
                <a:cs typeface="Rubik" pitchFamily="34" charset="-120"/>
              </a:rPr>
              <a:t>Hardest class: </a:t>
            </a:r>
            <a:r>
              <a:rPr lang="en-US" sz="1500" b="1" dirty="0">
                <a:solidFill>
                  <a:srgbClr val="16213A"/>
                </a:solidFill>
                <a:latin typeface="Rubik" pitchFamily="34" charset="0"/>
                <a:ea typeface="Rubik" pitchFamily="34" charset="-122"/>
                <a:cs typeface="Rubik" pitchFamily="34" charset="-120"/>
              </a:rPr>
              <a:t>cat (74%)</a:t>
            </a:r>
            <a:r>
              <a:rPr lang="en-US" sz="1500" dirty="0">
                <a:solidFill>
                  <a:srgbClr val="4A5160"/>
                </a:solidFill>
                <a:latin typeface="Rubik" pitchFamily="34" charset="0"/>
                <a:ea typeface="Rubik" pitchFamily="34" charset="-122"/>
                <a:cs typeface="Rubik" pitchFamily="34" charset="-120"/>
              </a:rPr>
              <a:t>, mostly mixed up with dog. Car/truck and plane/ship too.</a:t>
            </a:r>
            <a:endParaRPr lang="en-US" sz="15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10k test photos never seen in training · 15 epochs, ~5 s each on the Mac GPU · practice dl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41C"/>
                </a:solidFill>
                <a:latin typeface="JetBrains Mono" pitchFamily="49" charset="0"/>
                <a:ea typeface="JetBrains Mono" pitchFamily="49" charset="-122"/>
                <a:cs typeface="JetBrains Mono" pitchFamily="49" charset="-120"/>
              </a:rPr>
              <a:t>A2 · TRANSFER LEARNING · PRETRAINED RESNET18</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Rubik" pitchFamily="34" charset="0"/>
                <a:ea typeface="Rubik" pitchFamily="34" charset="-122"/>
                <a:cs typeface="Rubik" pitchFamily="34" charset="-120"/>
              </a:rPr>
              <a:t>Pretraining was worth 20x more photos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6337300" cy="2316063"/>
        </p:xfrm>
        <a:graphic>
          <a:graphicData uri="http://schemas.openxmlformats.org/drawingml/2006/table">
            <a:tbl>
              <a:tblPr/>
              <a:tblGrid>
                <a:gridCol w="3548888"/>
                <a:gridCol w="1394206"/>
                <a:gridCol w="1394206"/>
              </a:tblGrid>
              <a:tr h="386011">
                <a:tc>
                  <a:txBody>
                    <a:bodyPr/>
                    <a:lstStyle/>
                    <a:p>
                      <a:pPr indent="0" marL="0">
                        <a:lnSpc>
                          <a:spcPts val="1960"/>
                        </a:lnSpc>
                        <a:buNone/>
                      </a:pPr>
                      <a:r>
                        <a:rPr lang="en-US" sz="1400" b="1" dirty="0">
                          <a:solidFill>
                            <a:srgbClr val="16213A"/>
                          </a:solidFill>
                          <a:latin typeface="Rubik" pitchFamily="34" charset="0"/>
                          <a:ea typeface="Rubik" pitchFamily="34" charset="-122"/>
                          <a:cs typeface="Rubik" pitchFamily="34" charset="-120"/>
                        </a:rPr>
                        <a:t>model</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1960"/>
                        </a:lnSpc>
                        <a:buNone/>
                      </a:pPr>
                      <a:r>
                        <a:rPr lang="en-US" sz="1400" b="1" dirty="0">
                          <a:solidFill>
                            <a:srgbClr val="16213A"/>
                          </a:solidFill>
                          <a:latin typeface="Rubik" pitchFamily="34" charset="0"/>
                          <a:ea typeface="Rubik" pitchFamily="34" charset="-122"/>
                          <a:cs typeface="Rubik" pitchFamily="34" charset="-120"/>
                        </a:rPr>
                        <a:t>trained on</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1960"/>
                        </a:lnSpc>
                        <a:buNone/>
                      </a:pPr>
                      <a:r>
                        <a:rPr lang="en-US" sz="1400" b="1" dirty="0">
                          <a:solidFill>
                            <a:srgbClr val="16213A"/>
                          </a:solidFill>
                          <a:latin typeface="Rubik" pitchFamily="34" charset="0"/>
                          <a:ea typeface="Rubik" pitchFamily="34" charset="-122"/>
                          <a:cs typeface="Rubik" pitchFamily="34" charset="-120"/>
                        </a:rPr>
                        <a:t>test acc</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A1 CNN from scratch</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45k</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88.0%</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frozen ResNet + new last layer</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45k</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85.9%</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finetuned ResNet (3 epochs)</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45k</a:t>
                      </a:r>
                      <a:endParaRPr lang="en-US" sz="1400" dirty="0">
                        <a:latin typeface="Rubik" charset="0"/>
                        <a:ea typeface="Rubik" charset="0"/>
                        <a:cs typeface="Rubik" charset="0"/>
                      </a:endParaRPr>
                    </a:p>
                  </a:txBody>
                  <a:tcPr marL="62230" marR="62230" marT="62230" marB="62230"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95.2%</a:t>
                      </a:r>
                      <a:endParaRPr lang="en-US" sz="1400" dirty="0">
                        <a:latin typeface="Rubik" charset="0"/>
                        <a:ea typeface="Rubik" charset="0"/>
                        <a:cs typeface="Rubik" charset="0"/>
                      </a:endParaRPr>
                    </a:p>
                  </a:txBody>
                  <a:tcPr marL="62230" marR="62230" marT="62230" marB="62230"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CNN from scratch</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B5A8"/>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2k</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B5A8"/>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67.0%</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B5A8"/>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finetuned ResNet</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2k</a:t>
                      </a:r>
                      <a:endParaRPr lang="en-US" sz="1400" dirty="0">
                        <a:latin typeface="Rubik" charset="0"/>
                        <a:ea typeface="Rubik" charset="0"/>
                        <a:cs typeface="Rubik" charset="0"/>
                      </a:endParaRPr>
                    </a:p>
                  </a:txBody>
                  <a:tcPr marL="62230" marR="62230" marT="62230" marB="62230"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87.8%</a:t>
                      </a:r>
                      <a:endParaRPr lang="en-US" sz="1400" dirty="0">
                        <a:latin typeface="Rubik" charset="0"/>
                        <a:ea typeface="Rubik" charset="0"/>
                        <a:cs typeface="Rubik" charset="0"/>
                      </a:endParaRPr>
                    </a:p>
                  </a:txBody>
                  <a:tcPr marL="62230" marR="62230" marT="62230" marB="62230"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r>
            </a:tbl>
          </a:graphicData>
        </a:graphic>
      </p:graphicFrame>
      <p:sp>
        <p:nvSpPr>
          <p:cNvPr id="5" name="Text 2"/>
          <p:cNvSpPr/>
          <p:nvPr/>
        </p:nvSpPr>
        <p:spPr>
          <a:xfrm>
            <a:off x="7569200" y="1981150"/>
            <a:ext cx="39243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F5D8C"/>
                </a:solidFill>
                <a:latin typeface="JetBrains Mono" pitchFamily="49" charset="0"/>
                <a:ea typeface="JetBrains Mono" pitchFamily="49" charset="-122"/>
                <a:cs typeface="JetBrains Mono" pitchFamily="49" charset="-120"/>
              </a:rPr>
              <a:t>2k ≈ 45k</a:t>
            </a:r>
            <a:endParaRPr lang="en-US" sz="4800" dirty="0"/>
          </a:p>
        </p:txBody>
      </p:sp>
      <p:sp>
        <p:nvSpPr>
          <p:cNvPr id="6" name="Text 3"/>
          <p:cNvSpPr/>
          <p:nvPr/>
        </p:nvSpPr>
        <p:spPr>
          <a:xfrm>
            <a:off x="7569200" y="2743150"/>
            <a:ext cx="392430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160"/>
                </a:solidFill>
                <a:latin typeface="Rubik" pitchFamily="34" charset="0"/>
                <a:ea typeface="Rubik" pitchFamily="34" charset="-122"/>
                <a:cs typeface="Rubik" pitchFamily="34" charset="-120"/>
              </a:rPr>
              <a:t>With only 2,000 photos the pretrained ResNet matched my CNN trained on all 45,000. It already learned what edges and shapes look like from ImageNet.</a:t>
            </a:r>
            <a:endParaRPr lang="en-US" sz="15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Images resized 32 → 128 px for ResNet · finetune ~51 s per epoch on the Mac GPU · practice dl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41C"/>
                </a:solidFill>
                <a:latin typeface="JetBrains Mono" pitchFamily="49" charset="0"/>
                <a:ea typeface="JetBrains Mono" pitchFamily="49" charset="-122"/>
                <a:cs typeface="JetBrains Mono" pitchFamily="49" charset="-120"/>
              </a:rPr>
              <a:t>B1 · BAG OF WORDS · 50K IMDB REVIEWS</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Rubik" pitchFamily="34" charset="0"/>
                <a:ea typeface="Rubik" pitchFamily="34" charset="-122"/>
                <a:cs typeface="Rubik" pitchFamily="34" charset="-120"/>
              </a:rPr>
              <a:t>Word counts alone got 90.6%</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5702300" cy="2476500"/>
        </p:xfrm>
        <a:graphic>
          <a:graphicData uri="http://schemas.openxmlformats.org/drawingml/2006/table">
            <a:tbl>
              <a:tblPr/>
              <a:tblGrid>
                <a:gridCol w="4105656"/>
                <a:gridCol w="1596644"/>
              </a:tblGrid>
              <a:tr h="412750">
                <a:tc>
                  <a:txBody>
                    <a:bodyPr/>
                    <a:lstStyle/>
                    <a:p>
                      <a:pPr indent="0" marL="0">
                        <a:lnSpc>
                          <a:spcPts val="2100"/>
                        </a:lnSpc>
                        <a:buNone/>
                      </a:pPr>
                      <a:r>
                        <a:rPr lang="en-US" sz="1500" b="1" dirty="0">
                          <a:solidFill>
                            <a:srgbClr val="16213A"/>
                          </a:solidFill>
                          <a:latin typeface="Rubik" pitchFamily="34" charset="0"/>
                          <a:ea typeface="Rubik" pitchFamily="34" charset="-122"/>
                          <a:cs typeface="Rubik" pitchFamily="34" charset="-120"/>
                        </a:rPr>
                        <a:t>model</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2100"/>
                        </a:lnSpc>
                        <a:buNone/>
                      </a:pPr>
                      <a:r>
                        <a:rPr lang="en-US" sz="1500" b="1" dirty="0">
                          <a:solidFill>
                            <a:srgbClr val="16213A"/>
                          </a:solidFill>
                          <a:latin typeface="Rubik" pitchFamily="34" charset="0"/>
                          <a:ea typeface="Rubik" pitchFamily="34" charset="-122"/>
                          <a:cs typeface="Rubik" pitchFamily="34" charset="-120"/>
                        </a:rPr>
                        <a:t>test acc</a:t>
                      </a:r>
                      <a:endParaRPr lang="en-US" sz="1500" dirty="0">
                        <a:latin typeface="Rubik" charset="0"/>
                        <a:ea typeface="Rubik" charset="0"/>
                        <a:cs typeface="Rubik" charset="0"/>
                      </a:endParaRPr>
                    </a:p>
                  </a:txBody>
                  <a:tcPr marL="66675" marR="66675" marT="66675" marB="6667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always say positive</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50.0%</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my good/bad word list</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70.5%</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naive bayes</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81.5%</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logreg, single words</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88.7%</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logreg, words + pairs</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90.6%</a:t>
                      </a:r>
                      <a:endParaRPr lang="en-US" sz="1500" dirty="0">
                        <a:latin typeface="Rubik" charset="0"/>
                        <a:ea typeface="Rubik" charset="0"/>
                        <a:cs typeface="Rubik" charset="0"/>
                      </a:endParaRPr>
                    </a:p>
                  </a:txBody>
                  <a:tcPr marL="66675" marR="66675" marT="66675" marB="66675"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r>
            </a:tbl>
          </a:graphicData>
        </a:graphic>
      </p:graphicFrame>
      <p:sp>
        <p:nvSpPr>
          <p:cNvPr id="5" name="Text 2"/>
          <p:cNvSpPr/>
          <p:nvPr/>
        </p:nvSpPr>
        <p:spPr>
          <a:xfrm>
            <a:off x="6934200" y="1981150"/>
            <a:ext cx="45783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160"/>
                </a:solidFill>
                <a:latin typeface="Rubik" pitchFamily="34" charset="0"/>
                <a:ea typeface="Rubik" pitchFamily="34" charset="-122"/>
                <a:cs typeface="Rubik" pitchFamily="34" charset="-120"/>
              </a:rPr>
              <a:t>Word pairs helped: </a:t>
            </a:r>
            <a:r>
              <a:rPr lang="en-US" sz="1500" b="1" dirty="0">
                <a:solidFill>
                  <a:srgbClr val="16213A"/>
                </a:solidFill>
                <a:latin typeface="Rubik" pitchFamily="34" charset="0"/>
                <a:ea typeface="Rubik" pitchFamily="34" charset="-122"/>
                <a:cs typeface="Rubik" pitchFamily="34" charset="-120"/>
              </a:rPr>
              <a:t>“not funny”</a:t>
            </a:r>
            <a:r>
              <a:rPr lang="en-US" sz="1500" dirty="0">
                <a:solidFill>
                  <a:srgbClr val="4A5160"/>
                </a:solidFill>
                <a:latin typeface="Rubik" pitchFamily="34" charset="0"/>
                <a:ea typeface="Rubik" pitchFamily="34" charset="-122"/>
                <a:cs typeface="Rubik" pitchFamily="34" charset="-120"/>
              </a:rPr>
              <a:t> gets −3.15 even though “funny” is +0.86.</a:t>
            </a:r>
            <a:endParaRPr lang="en-US" sz="1500" dirty="0"/>
          </a:p>
        </p:txBody>
      </p:sp>
      <p:sp>
        <p:nvSpPr>
          <p:cNvPr id="6" name="Shape 3"/>
          <p:cNvSpPr/>
          <p:nvPr/>
        </p:nvSpPr>
        <p:spPr>
          <a:xfrm>
            <a:off x="6934200" y="2666950"/>
            <a:ext cx="4445000" cy="1864271"/>
          </a:xfrm>
          <a:prstGeom prst="roundRect">
            <a:avLst>
              <a:gd name="adj" fmla="val 5450"/>
            </a:avLst>
          </a:prstGeom>
          <a:solidFill>
            <a:srgbClr val="16213A"/>
          </a:solidFill>
          <a:ln/>
        </p:spPr>
      </p:sp>
      <p:sp>
        <p:nvSpPr>
          <p:cNvPr id="7" name="Text 4"/>
          <p:cNvSpPr/>
          <p:nvPr/>
        </p:nvSpPr>
        <p:spPr>
          <a:xfrm>
            <a:off x="7137400" y="2870150"/>
            <a:ext cx="415975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A774"/>
                </a:solidFill>
                <a:latin typeface="Rubik" pitchFamily="34" charset="0"/>
                <a:ea typeface="Rubik" pitchFamily="34" charset="-122"/>
                <a:cs typeface="Rubik" pitchFamily="34" charset="-120"/>
              </a:rPr>
              <a:t>But it still fails this one:</a:t>
            </a:r>
            <a:endParaRPr lang="en-US" sz="1400" dirty="0"/>
          </a:p>
        </p:txBody>
      </p:sp>
      <p:sp>
        <p:nvSpPr>
          <p:cNvPr id="8" name="Text 5"/>
          <p:cNvSpPr/>
          <p:nvPr/>
        </p:nvSpPr>
        <p:spPr>
          <a:xfrm>
            <a:off x="7137400" y="3195241"/>
            <a:ext cx="415975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5F3EE"/>
                </a:solidFill>
                <a:latin typeface="Rubik" pitchFamily="34" charset="0"/>
                <a:ea typeface="Rubik" pitchFamily="34" charset="-122"/>
                <a:cs typeface="Rubik" pitchFamily="34" charset="-120"/>
              </a:rPr>
              <a:t>“this movie was not bad at all” → P(positive) = 0.01</a:t>
            </a:r>
            <a:endParaRPr lang="en-US" sz="1800" dirty="0"/>
          </a:p>
        </p:txBody>
      </p:sp>
      <p:sp>
        <p:nvSpPr>
          <p:cNvPr id="9" name="Text 6"/>
          <p:cNvSpPr/>
          <p:nvPr/>
        </p:nvSpPr>
        <p:spPr>
          <a:xfrm>
            <a:off x="7137400" y="3865761"/>
            <a:ext cx="415975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E0"/>
                </a:solidFill>
                <a:latin typeface="Rubik" pitchFamily="34" charset="0"/>
                <a:ea typeface="Rubik" pitchFamily="34" charset="-122"/>
                <a:cs typeface="Rubik" pitchFamily="34" charset="-120"/>
              </a:rPr>
              <a:t>“bad” is −13, “not bad” only +1.5, and order doesn’t matter to it.</a:t>
            </a:r>
            <a:endParaRPr lang="en-US" sz="13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TF-IDF + logistic regression, 436k features, trains in 8 s · practice dl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41C"/>
                </a:solidFill>
                <a:latin typeface="JetBrains Mono" pitchFamily="49" charset="0"/>
                <a:ea typeface="JetBrains Mono" pitchFamily="49" charset="-122"/>
                <a:cs typeface="JetBrains Mono" pitchFamily="49" charset="-120"/>
              </a:rPr>
              <a:t>B2 · WORD EMBEDDINGS + BILSTM</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Rubik" pitchFamily="34" charset="0"/>
                <a:ea typeface="Rubik" pitchFamily="34" charset="-122"/>
                <a:cs typeface="Rubik" pitchFamily="34" charset="-120"/>
              </a:rPr>
              <a:t>Neural nets from scratch lost to logreg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4813300" cy="1651000"/>
        </p:xfrm>
        <a:graphic>
          <a:graphicData uri="http://schemas.openxmlformats.org/drawingml/2006/table">
            <a:tbl>
              <a:tblPr/>
              <a:tblGrid>
                <a:gridCol w="3369310"/>
                <a:gridCol w="1443990"/>
              </a:tblGrid>
              <a:tr h="412750">
                <a:tc>
                  <a:txBody>
                    <a:bodyPr/>
                    <a:lstStyle/>
                    <a:p>
                      <a:pPr indent="0" marL="0">
                        <a:lnSpc>
                          <a:spcPts val="2100"/>
                        </a:lnSpc>
                        <a:buNone/>
                      </a:pPr>
                      <a:r>
                        <a:rPr lang="en-US" sz="1500" b="1" dirty="0">
                          <a:solidFill>
                            <a:srgbClr val="16213A"/>
                          </a:solidFill>
                          <a:latin typeface="Rubik" pitchFamily="34" charset="0"/>
                          <a:ea typeface="Rubik" pitchFamily="34" charset="-122"/>
                          <a:cs typeface="Rubik" pitchFamily="34" charset="-120"/>
                        </a:rPr>
                        <a:t>model</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2100"/>
                        </a:lnSpc>
                        <a:buNone/>
                      </a:pPr>
                      <a:r>
                        <a:rPr lang="en-US" sz="1500" b="1" dirty="0">
                          <a:solidFill>
                            <a:srgbClr val="16213A"/>
                          </a:solidFill>
                          <a:latin typeface="Rubik" pitchFamily="34" charset="0"/>
                          <a:ea typeface="Rubik" pitchFamily="34" charset="-122"/>
                          <a:cs typeface="Rubik" pitchFamily="34" charset="-120"/>
                        </a:rPr>
                        <a:t>test acc</a:t>
                      </a:r>
                      <a:endParaRPr lang="en-US" sz="1500" dirty="0">
                        <a:latin typeface="Rubik" charset="0"/>
                        <a:ea typeface="Rubik" charset="0"/>
                        <a:cs typeface="Rubik" charset="0"/>
                      </a:endParaRPr>
                    </a:p>
                  </a:txBody>
                  <a:tcPr marL="66675" marR="66675" marT="66675" marB="6667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B1 logreg (baseline)</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90.6%</a:t>
                      </a:r>
                      <a:endParaRPr lang="en-US" sz="1500" dirty="0">
                        <a:latin typeface="Rubik" charset="0"/>
                        <a:ea typeface="Rubik" charset="0"/>
                        <a:cs typeface="Rubik" charset="0"/>
                      </a:endParaRPr>
                    </a:p>
                  </a:txBody>
                  <a:tcPr marL="66675" marR="66675" marT="66675" marB="66675"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avg embeddings</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B5A8"/>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87.4%</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B5A8"/>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13A"/>
                          </a:solidFill>
                          <a:latin typeface="Rubik" pitchFamily="34" charset="0"/>
                          <a:ea typeface="Rubik" pitchFamily="34" charset="-122"/>
                          <a:cs typeface="Rubik" pitchFamily="34" charset="-120"/>
                        </a:rPr>
                        <a:t>BiLSTM (reads in order)</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2100"/>
                        </a:lnSpc>
                        <a:buNone/>
                      </a:pPr>
                      <a:r>
                        <a:rPr lang="en-US" sz="1500" dirty="0">
                          <a:solidFill>
                            <a:srgbClr val="16213A"/>
                          </a:solidFill>
                          <a:latin typeface="Rubik" pitchFamily="34" charset="0"/>
                          <a:ea typeface="Rubik" pitchFamily="34" charset="-122"/>
                          <a:cs typeface="Rubik" pitchFamily="34" charset="-120"/>
                        </a:rPr>
                        <a:t>87.1%</a:t>
                      </a:r>
                      <a:endParaRPr lang="en-US" sz="1500" dirty="0">
                        <a:latin typeface="Rubik" charset="0"/>
                        <a:ea typeface="Rubik" charset="0"/>
                        <a:cs typeface="Rubik"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3848050"/>
            <a:ext cx="49707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160"/>
                </a:solidFill>
                <a:latin typeface="Rubik" pitchFamily="34" charset="0"/>
                <a:ea typeface="Rubik" pitchFamily="34" charset="-122"/>
                <a:cs typeface="Rubik" pitchFamily="34" charset="-120"/>
              </a:rPr>
              <a:t>22.5k reviews isn’t enough to learn 3M embedding numbers from zero.</a:t>
            </a:r>
            <a:endParaRPr lang="en-US" sz="1500" dirty="0"/>
          </a:p>
        </p:txBody>
      </p:sp>
      <p:sp>
        <p:nvSpPr>
          <p:cNvPr id="6" name="Shape 3"/>
          <p:cNvSpPr/>
          <p:nvPr/>
        </p:nvSpPr>
        <p:spPr>
          <a:xfrm>
            <a:off x="6048375" y="1984325"/>
            <a:ext cx="5327650" cy="1812280"/>
          </a:xfrm>
          <a:prstGeom prst="roundRect">
            <a:avLst>
              <a:gd name="adj" fmla="val 5431"/>
            </a:avLst>
          </a:prstGeom>
          <a:solidFill>
            <a:srgbClr val="FFFFFF"/>
          </a:solidFill>
          <a:ln w="6350">
            <a:solidFill>
              <a:srgbClr val="E1DDD3"/>
            </a:solidFill>
            <a:prstDash val="solid"/>
          </a:ln>
        </p:spPr>
      </p:sp>
      <p:sp>
        <p:nvSpPr>
          <p:cNvPr id="7" name="Text 4"/>
          <p:cNvSpPr/>
          <p:nvPr/>
        </p:nvSpPr>
        <p:spPr>
          <a:xfrm>
            <a:off x="6280150" y="2216100"/>
            <a:ext cx="501002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Rubik" pitchFamily="34" charset="0"/>
                <a:ea typeface="Rubik" pitchFamily="34" charset="-122"/>
                <a:cs typeface="Rubik" pitchFamily="34" charset="-120"/>
              </a:rPr>
              <a:t>But the embeddings did learn meaning</a:t>
            </a:r>
            <a:endParaRPr lang="en-US" sz="1600" dirty="0"/>
          </a:p>
        </p:txBody>
      </p:sp>
      <p:sp>
        <p:nvSpPr>
          <p:cNvPr id="8" name="Text 5"/>
          <p:cNvSpPr/>
          <p:nvPr/>
        </p:nvSpPr>
        <p:spPr>
          <a:xfrm>
            <a:off x="6280150" y="2561530"/>
            <a:ext cx="5010023"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6213A"/>
                </a:solidFill>
                <a:latin typeface="Rubik" pitchFamily="34" charset="0"/>
                <a:ea typeface="Rubik" pitchFamily="34" charset="-122"/>
                <a:cs typeface="Rubik" pitchFamily="34" charset="-120"/>
              </a:rPr>
              <a:t>awful</a:t>
            </a:r>
            <a:r>
              <a:rPr lang="en-US" sz="1400" dirty="0">
                <a:solidFill>
                  <a:srgbClr val="4A5160"/>
                </a:solidFill>
                <a:latin typeface="Rubik" pitchFamily="34" charset="0"/>
                <a:ea typeface="Rubik" pitchFamily="34" charset="-122"/>
                <a:cs typeface="Rubik" pitchFamily="34" charset="-120"/>
              </a:rPr>
              <a:t> → waste, worst, disappointment, boring, horrible</a:t>
            </a:r>
            <a:endParaRPr lang="en-US" sz="1400" dirty="0"/>
          </a:p>
        </p:txBody>
      </p:sp>
      <p:sp>
        <p:nvSpPr>
          <p:cNvPr id="9" name="Text 6"/>
          <p:cNvSpPr/>
          <p:nvPr/>
        </p:nvSpPr>
        <p:spPr>
          <a:xfrm>
            <a:off x="6280150" y="2929830"/>
            <a:ext cx="5010023"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6213A"/>
                </a:solidFill>
                <a:latin typeface="Rubik" pitchFamily="34" charset="0"/>
                <a:ea typeface="Rubik" pitchFamily="34" charset="-122"/>
                <a:cs typeface="Rubik" pitchFamily="34" charset="-120"/>
              </a:rPr>
              <a:t>excellent</a:t>
            </a:r>
            <a:r>
              <a:rPr lang="en-US" sz="1400" dirty="0">
                <a:solidFill>
                  <a:srgbClr val="4A5160"/>
                </a:solidFill>
                <a:latin typeface="Rubik" pitchFamily="34" charset="0"/>
                <a:ea typeface="Rubik" pitchFamily="34" charset="-122"/>
                <a:cs typeface="Rubik" pitchFamily="34" charset="-120"/>
              </a:rPr>
              <a:t> → 7, wonderful, fantastic, gem</a:t>
            </a:r>
            <a:endParaRPr lang="en-US" sz="1400" dirty="0"/>
          </a:p>
        </p:txBody>
      </p:sp>
      <p:sp>
        <p:nvSpPr>
          <p:cNvPr id="10" name="Text 7"/>
          <p:cNvSpPr/>
          <p:nvPr/>
        </p:nvSpPr>
        <p:spPr>
          <a:xfrm>
            <a:off x="6280150" y="3298130"/>
            <a:ext cx="5092700"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6213A"/>
                </a:solidFill>
                <a:latin typeface="Rubik" pitchFamily="34" charset="0"/>
                <a:ea typeface="Rubik" pitchFamily="34" charset="-122"/>
                <a:cs typeface="Rubik" pitchFamily="34" charset="-120"/>
              </a:rPr>
              <a:t>actor</a:t>
            </a:r>
            <a:r>
              <a:rPr lang="en-US" sz="1400" dirty="0">
                <a:solidFill>
                  <a:srgbClr val="4A5160"/>
                </a:solidFill>
                <a:latin typeface="Rubik" pitchFamily="34" charset="0"/>
                <a:ea typeface="Rubik" pitchFamily="34" charset="-122"/>
                <a:cs typeface="Rubik" pitchFamily="34" charset="-120"/>
              </a:rPr>
              <a:t> → random words, because it only learned sentiment</a:t>
            </a:r>
            <a:endParaRPr lang="en-US" sz="14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30k-word vocab, 100 numbers per word, reviews cut at 300 words · practice dl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41C"/>
                </a:solidFill>
                <a:latin typeface="JetBrains Mono" pitchFamily="49" charset="0"/>
                <a:ea typeface="JetBrains Mono" pitchFamily="49" charset="-122"/>
                <a:cs typeface="JetBrains Mono" pitchFamily="49" charset="-120"/>
              </a:rPr>
              <a:t>B3 · PRETRAINED TRANSFORMER · DISTILBERT</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Rubik" pitchFamily="34" charset="0"/>
                <a:ea typeface="Rubik" pitchFamily="34" charset="-122"/>
                <a:cs typeface="Rubik" pitchFamily="34" charset="-120"/>
              </a:rPr>
              <a:t>How I cut the text mattered as much as the model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6718300" cy="1544042"/>
        </p:xfrm>
        <a:graphic>
          <a:graphicData uri="http://schemas.openxmlformats.org/drawingml/2006/table">
            <a:tbl>
              <a:tblPr/>
              <a:tblGrid>
                <a:gridCol w="3090418"/>
                <a:gridCol w="1209294"/>
                <a:gridCol w="1209294"/>
                <a:gridCol w="1209294"/>
              </a:tblGrid>
              <a:tr h="386011">
                <a:tc>
                  <a:txBody>
                    <a:bodyPr/>
                    <a:lstStyle/>
                    <a:p>
                      <a:pPr indent="0" marL="0">
                        <a:lnSpc>
                          <a:spcPts val="1960"/>
                        </a:lnSpc>
                        <a:buNone/>
                      </a:pPr>
                      <a:r>
                        <a:rPr lang="en-US" sz="1400" b="1" dirty="0">
                          <a:solidFill>
                            <a:srgbClr val="16213A"/>
                          </a:solidFill>
                          <a:latin typeface="Rubik" pitchFamily="34" charset="0"/>
                          <a:ea typeface="Rubik" pitchFamily="34" charset="-122"/>
                          <a:cs typeface="Rubik" pitchFamily="34" charset="-120"/>
                        </a:rPr>
                        <a:t>model</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1960"/>
                        </a:lnSpc>
                        <a:buNone/>
                      </a:pPr>
                      <a:r>
                        <a:rPr lang="en-US" sz="1400" b="1" dirty="0">
                          <a:solidFill>
                            <a:srgbClr val="16213A"/>
                          </a:solidFill>
                          <a:latin typeface="Rubik" pitchFamily="34" charset="0"/>
                          <a:ea typeface="Rubik" pitchFamily="34" charset="-122"/>
                          <a:cs typeface="Rubik" pitchFamily="34" charset="-120"/>
                        </a:rPr>
                        <a:t>reviews</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1960"/>
                        </a:lnSpc>
                        <a:buNone/>
                      </a:pPr>
                      <a:r>
                        <a:rPr lang="en-US" sz="1400" b="1" dirty="0">
                          <a:solidFill>
                            <a:srgbClr val="16213A"/>
                          </a:solidFill>
                          <a:latin typeface="Rubik" pitchFamily="34" charset="0"/>
                          <a:ea typeface="Rubik" pitchFamily="34" charset="-122"/>
                          <a:cs typeface="Rubik" pitchFamily="34" charset="-120"/>
                        </a:rPr>
                        <a:t>try 1</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1960"/>
                        </a:lnSpc>
                        <a:buNone/>
                      </a:pPr>
                      <a:r>
                        <a:rPr lang="en-US" sz="1400" b="1" dirty="0">
                          <a:solidFill>
                            <a:srgbClr val="16213A"/>
                          </a:solidFill>
                          <a:latin typeface="Rubik" pitchFamily="34" charset="0"/>
                          <a:ea typeface="Rubik" pitchFamily="34" charset="-122"/>
                          <a:cs typeface="Rubik" pitchFamily="34" charset="-120"/>
                        </a:rPr>
                        <a:t>try 2</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B1 logreg</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25,000</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90.6%</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90.6%</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SST-2 DistilBERT, no training</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0</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86.8%</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88.5%</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my DistilBERT finetune</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4k → 8k</a:t>
                      </a:r>
                      <a:endParaRPr lang="en-US" sz="1400" dirty="0">
                        <a:latin typeface="Rubik" charset="0"/>
                        <a:ea typeface="Rubik" charset="0"/>
                        <a:cs typeface="Rubik" charset="0"/>
                      </a:endParaRPr>
                    </a:p>
                  </a:txBody>
                  <a:tcPr marL="62230" marR="62230" marT="62230" marB="62230"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88.2%</a:t>
                      </a:r>
                      <a:endParaRPr lang="en-US" sz="1400" dirty="0">
                        <a:latin typeface="Rubik" charset="0"/>
                        <a:ea typeface="Rubik" charset="0"/>
                        <a:cs typeface="Rubik" charset="0"/>
                      </a:endParaRPr>
                    </a:p>
                  </a:txBody>
                  <a:tcPr marL="62230" marR="62230" marT="62230" marB="62230"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91.8%</a:t>
                      </a:r>
                      <a:endParaRPr lang="en-US" sz="1400" dirty="0">
                        <a:latin typeface="Rubik" charset="0"/>
                        <a:ea typeface="Rubik" charset="0"/>
                        <a:cs typeface="Rubik" charset="0"/>
                      </a:endParaRPr>
                    </a:p>
                  </a:txBody>
                  <a:tcPr marL="62230" marR="62230" marT="62230" marB="62230"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r>
            </a:tbl>
          </a:graphicData>
        </a:graphic>
      </p:graphicFrame>
      <p:sp>
        <p:nvSpPr>
          <p:cNvPr id="5" name="Text 2"/>
          <p:cNvSpPr/>
          <p:nvPr/>
        </p:nvSpPr>
        <p:spPr>
          <a:xfrm>
            <a:off x="7899400" y="1981150"/>
            <a:ext cx="3584194"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13A"/>
                </a:solidFill>
                <a:latin typeface="Rubik" pitchFamily="34" charset="0"/>
                <a:ea typeface="Rubik" pitchFamily="34" charset="-122"/>
                <a:cs typeface="Rubik" pitchFamily="34" charset="-120"/>
              </a:rPr>
              <a:t>Try 1:</a:t>
            </a:r>
            <a:r>
              <a:rPr lang="en-US" sz="1400" dirty="0">
                <a:solidFill>
                  <a:srgbClr val="4A5160"/>
                </a:solidFill>
                <a:latin typeface="Rubik" pitchFamily="34" charset="0"/>
                <a:ea typeface="Rubik" pitchFamily="34" charset="-122"/>
                <a:cs typeface="Rubik" pitchFamily="34" charset="-120"/>
              </a:rPr>
              <a:t> first 256 tokens only. Reviews often say the verdict at the end, so I was cutting it off.</a:t>
            </a:r>
            <a:endParaRPr lang="en-US" sz="1400" dirty="0"/>
          </a:p>
        </p:txBody>
      </p:sp>
      <p:sp>
        <p:nvSpPr>
          <p:cNvPr id="6" name="Text 3"/>
          <p:cNvSpPr/>
          <p:nvPr/>
        </p:nvSpPr>
        <p:spPr>
          <a:xfrm>
            <a:off x="7899400" y="2854821"/>
            <a:ext cx="3584194"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13A"/>
                </a:solidFill>
                <a:latin typeface="Rubik" pitchFamily="34" charset="0"/>
                <a:ea typeface="Rubik" pitchFamily="34" charset="-122"/>
                <a:cs typeface="Rubik" pitchFamily="34" charset="-120"/>
              </a:rPr>
              <a:t>Try 2:</a:t>
            </a:r>
            <a:r>
              <a:rPr lang="en-US" sz="1400" dirty="0">
                <a:solidFill>
                  <a:srgbClr val="4A5160"/>
                </a:solidFill>
                <a:latin typeface="Rubik" pitchFamily="34" charset="0"/>
                <a:ea typeface="Rubik" pitchFamily="34" charset="-122"/>
                <a:cs typeface="Rubik" pitchFamily="34" charset="-120"/>
              </a:rPr>
              <a:t> 384 tokens, keep the start + the end, 8k reviews. Now it beats logreg with a third of the data.</a:t>
            </a:r>
            <a:endParaRPr lang="en-US" sz="14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Same 5,000 test reviews for all · 67M weights · ~10 min finetune on the Mac GPU · practice dl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2470"/>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B5541C"/>
                </a:solidFill>
                <a:latin typeface="JetBrains Mono" pitchFamily="49" charset="0"/>
                <a:ea typeface="JetBrains Mono" pitchFamily="49" charset="-122"/>
                <a:cs typeface="JetBrains Mono" pitchFamily="49" charset="-120"/>
              </a:rPr>
              <a:t>C · LIVE STREAMLIT APP · BTC NEXT MOVE</a:t>
            </a:r>
            <a:endParaRPr lang="en-US" sz="1196" dirty="0"/>
          </a:p>
        </p:txBody>
      </p:sp>
      <p:sp>
        <p:nvSpPr>
          <p:cNvPr id="3" name="Text 1"/>
          <p:cNvSpPr/>
          <p:nvPr>
            <p:ph type="title"/>
          </p:nvPr>
        </p:nvSpPr>
        <p:spPr>
          <a:xfrm>
            <a:off x="812800" y="1223070"/>
            <a:ext cx="10883392" cy="459284"/>
          </a:xfrm>
          <a:prstGeom prst="rect">
            <a:avLst/>
          </a:prstGeom>
          <a:noFill/>
          <a:ln/>
        </p:spPr>
        <p:txBody>
          <a:bodyPr wrap="square" lIns="0" tIns="0" rIns="0" bIns="0" rtlCol="0" anchor="t">
            <a:normAutofit/>
          </a:bodyPr>
          <a:lstStyle/>
          <a:p>
            <a:pPr algn="l" indent="0" marL="0">
              <a:lnSpc>
                <a:spcPts val="3421"/>
              </a:lnSpc>
              <a:buNone/>
            </a:pPr>
            <a:r>
              <a:rPr lang="en-US" sz="3110" b="1" i="0" dirty="0">
                <a:solidFill>
                  <a:srgbClr val="16213A"/>
                </a:solidFill>
                <a:latin typeface="Rubik" pitchFamily="34" charset="0"/>
                <a:ea typeface="Rubik" pitchFamily="34" charset="-122"/>
                <a:cs typeface="Rubik" pitchFamily="34" charset="-120"/>
              </a:rPr>
              <a:t>I put my BTC model in a web app</a:t>
            </a:r>
            <a:endParaRPr lang="en-US" sz="3110" dirty="0"/>
          </a:p>
        </p:txBody>
      </p:sp>
      <p:sp>
        <p:nvSpPr>
          <p:cNvPr id="4" name="Shape 2"/>
          <p:cNvSpPr/>
          <p:nvPr/>
        </p:nvSpPr>
        <p:spPr>
          <a:xfrm>
            <a:off x="812800" y="1860153"/>
            <a:ext cx="6350000" cy="4102100"/>
          </a:xfrm>
          <a:prstGeom prst="roundRect">
            <a:avLst>
              <a:gd name="adj" fmla="val 2477"/>
            </a:avLst>
          </a:prstGeom>
          <a:solidFill>
            <a:srgbClr val="16213A"/>
          </a:solidFill>
          <a:ln/>
        </p:spPr>
      </p:sp>
      <p:pic>
        <p:nvPicPr>
          <p:cNvPr id="5" name="Image 0" descr="My Streamlit app at 8 seconds per price: bounce 42%, logreg 42%, majority 49% after 119 moves">    </p:cNvPr>
          <p:cNvPicPr>
            <a:picLocks noChangeAspect="1"/>
          </p:cNvPicPr>
          <p:nvPr/>
        </p:nvPicPr>
        <p:blipFill>
          <a:blip r:embed="rId1"/>
          <a:srcRect l="-269" r="-269" t="0" b="0"/>
          <a:stretch/>
        </p:blipFill>
        <p:spPr>
          <a:xfrm>
            <a:off x="812800" y="1860153"/>
            <a:ext cx="6350000" cy="4102100"/>
          </a:xfrm>
          <a:prstGeom prst="roundRect">
            <a:avLst>
              <a:gd name="adj" fmla="val 2477"/>
            </a:avLst>
          </a:prstGeom>
        </p:spPr>
      </p:pic>
      <p:sp>
        <p:nvSpPr>
          <p:cNvPr id="6" name="Text 3"/>
          <p:cNvSpPr/>
          <p:nvPr/>
        </p:nvSpPr>
        <p:spPr>
          <a:xfrm>
            <a:off x="7467600" y="1860153"/>
            <a:ext cx="402894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Rubik" pitchFamily="34" charset="0"/>
                <a:ea typeface="Rubik" pitchFamily="34" charset="-122"/>
                <a:cs typeface="Rubik" pitchFamily="34" charset="-120"/>
              </a:rPr>
              <a:t>Every few seconds it gets the Coinbase price, checks the last predictions, learns, and predicts again.</a:t>
            </a:r>
            <a:endParaRPr lang="en-US" sz="1400" dirty="0"/>
          </a:p>
        </p:txBody>
      </p:sp>
      <p:sp>
        <p:nvSpPr>
          <p:cNvPr id="7" name="Text 4"/>
          <p:cNvSpPr/>
          <p:nvPr/>
        </p:nvSpPr>
        <p:spPr>
          <a:xfrm>
            <a:off x="7467600" y="2759224"/>
            <a:ext cx="402894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Rubik" pitchFamily="34" charset="0"/>
                <a:ea typeface="Rubik" pitchFamily="34" charset="-122"/>
                <a:cs typeface="Rubik" pitchFamily="34" charset="-120"/>
              </a:rPr>
              <a:t>In my realtime project the </a:t>
            </a:r>
            <a:r>
              <a:rPr lang="en-US" sz="1400" b="1" dirty="0">
                <a:solidFill>
                  <a:srgbClr val="16213A"/>
                </a:solidFill>
                <a:latin typeface="Rubik" pitchFamily="34" charset="0"/>
                <a:ea typeface="Rubik" pitchFamily="34" charset="-122"/>
                <a:cs typeface="Rubik" pitchFamily="34" charset="-120"/>
              </a:rPr>
              <a:t>bounce rule</a:t>
            </a:r>
            <a:r>
              <a:rPr lang="en-US" sz="1400" dirty="0">
                <a:solidFill>
                  <a:srgbClr val="4A5160"/>
                </a:solidFill>
                <a:latin typeface="Rubik" pitchFamily="34" charset="0"/>
                <a:ea typeface="Rubik" pitchFamily="34" charset="-122"/>
                <a:cs typeface="Rubik" pitchFamily="34" charset="-120"/>
              </a:rPr>
              <a:t> got 66%. Live, at one price every 8 s:</a:t>
            </a:r>
            <a:endParaRPr lang="en-US" sz="1400" dirty="0"/>
          </a:p>
        </p:txBody>
      </p:sp>
      <p:sp>
        <p:nvSpPr>
          <p:cNvPr id="8" name="Text 5"/>
          <p:cNvSpPr/>
          <p:nvPr/>
        </p:nvSpPr>
        <p:spPr>
          <a:xfrm>
            <a:off x="7467600" y="3409404"/>
            <a:ext cx="4028948"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B5541C"/>
                </a:solidFill>
                <a:latin typeface="JetBrains Mono" pitchFamily="49" charset="0"/>
                <a:ea typeface="JetBrains Mono" pitchFamily="49" charset="-122"/>
                <a:cs typeface="JetBrains Mono" pitchFamily="49" charset="-120"/>
              </a:rPr>
              <a:t>42%</a:t>
            </a:r>
            <a:endParaRPr lang="en-US" sz="4400" dirty="0"/>
          </a:p>
        </p:txBody>
      </p:sp>
      <p:sp>
        <p:nvSpPr>
          <p:cNvPr id="9" name="Text 6"/>
          <p:cNvSpPr/>
          <p:nvPr/>
        </p:nvSpPr>
        <p:spPr>
          <a:xfrm>
            <a:off x="7467600" y="4120604"/>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Rubik" pitchFamily="34" charset="0"/>
                <a:ea typeface="Rubik" pitchFamily="34" charset="-122"/>
                <a:cs typeface="Rubik" pitchFamily="34" charset="-120"/>
              </a:rPr>
              <a:t>Worse than a coin flip.</a:t>
            </a:r>
            <a:endParaRPr lang="en-US" sz="14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First live run: ~30 min, 119 moves checked · streamlit run c_btc_app.py · practice dl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2470"/>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B5541C"/>
                </a:solidFill>
                <a:latin typeface="JetBrains Mono" pitchFamily="49" charset="0"/>
                <a:ea typeface="JetBrains Mono" pitchFamily="49" charset="-122"/>
                <a:cs typeface="JetBrains Mono" pitchFamily="49" charset="-120"/>
              </a:rPr>
              <a:t>C · SECOND RUN · ONE PRICE EVERY 3 S</a:t>
            </a:r>
            <a:endParaRPr lang="en-US" sz="1196" dirty="0"/>
          </a:p>
        </p:txBody>
      </p:sp>
      <p:sp>
        <p:nvSpPr>
          <p:cNvPr id="3" name="Text 1"/>
          <p:cNvSpPr/>
          <p:nvPr>
            <p:ph type="title"/>
          </p:nvPr>
        </p:nvSpPr>
        <p:spPr>
          <a:xfrm>
            <a:off x="812800" y="1223070"/>
            <a:ext cx="10883392" cy="459284"/>
          </a:xfrm>
          <a:prstGeom prst="rect">
            <a:avLst/>
          </a:prstGeom>
          <a:noFill/>
          <a:ln/>
        </p:spPr>
        <p:txBody>
          <a:bodyPr wrap="square" lIns="0" tIns="0" rIns="0" bIns="0" rtlCol="0" anchor="t">
            <a:normAutofit/>
          </a:bodyPr>
          <a:lstStyle/>
          <a:p>
            <a:pPr algn="l" indent="0" marL="0">
              <a:lnSpc>
                <a:spcPts val="3421"/>
              </a:lnSpc>
              <a:buNone/>
            </a:pPr>
            <a:r>
              <a:rPr lang="en-US" sz="3110" b="1" i="0" dirty="0">
                <a:solidFill>
                  <a:srgbClr val="16213A"/>
                </a:solidFill>
                <a:latin typeface="Rubik" pitchFamily="34" charset="0"/>
                <a:ea typeface="Rubik" pitchFamily="34" charset="-122"/>
                <a:cs typeface="Rubik" pitchFamily="34" charset="-120"/>
              </a:rPr>
              <a:t>The pattern depends on how fast I sample</a:t>
            </a:r>
            <a:endParaRPr lang="en-US" sz="3110" dirty="0"/>
          </a:p>
        </p:txBody>
      </p:sp>
      <p:sp>
        <p:nvSpPr>
          <p:cNvPr id="4" name="Shape 2"/>
          <p:cNvSpPr/>
          <p:nvPr/>
        </p:nvSpPr>
        <p:spPr>
          <a:xfrm>
            <a:off x="812800" y="1860153"/>
            <a:ext cx="6350000" cy="4102100"/>
          </a:xfrm>
          <a:prstGeom prst="roundRect">
            <a:avLst>
              <a:gd name="adj" fmla="val 2477"/>
            </a:avLst>
          </a:prstGeom>
          <a:solidFill>
            <a:srgbClr val="16213A"/>
          </a:solidFill>
          <a:ln/>
        </p:spPr>
      </p:sp>
      <p:pic>
        <p:nvPicPr>
          <p:cNvPr id="5" name="Image 0" descr="My Streamlit app at 3 seconds per price: bounce 61%, momentum 39%, logreg 52%, majority 52% after 119 moves">    </p:cNvPr>
          <p:cNvPicPr>
            <a:picLocks noChangeAspect="1"/>
          </p:cNvPicPr>
          <p:nvPr/>
        </p:nvPicPr>
        <p:blipFill>
          <a:blip r:embed="rId1"/>
          <a:srcRect l="-269" r="-269" t="0" b="0"/>
          <a:stretch/>
        </p:blipFill>
        <p:spPr>
          <a:xfrm>
            <a:off x="812800" y="1860153"/>
            <a:ext cx="6350000" cy="4102100"/>
          </a:xfrm>
          <a:prstGeom prst="roundRect">
            <a:avLst>
              <a:gd name="adj" fmla="val 2477"/>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480300" y="1872853"/>
          <a:ext cx="3543300" cy="1544042"/>
        </p:xfrm>
        <a:graphic>
          <a:graphicData uri="http://schemas.openxmlformats.org/drawingml/2006/table">
            <a:tbl>
              <a:tblPr/>
              <a:tblGrid>
                <a:gridCol w="1842516"/>
                <a:gridCol w="850392"/>
                <a:gridCol w="850392"/>
              </a:tblGrid>
              <a:tr h="386011">
                <a:tc>
                  <a:txBody>
                    <a:bodyPr/>
                    <a:lstStyle/>
                    <a:p>
                      <a:pPr indent="0" marL="0">
                        <a:lnSpc>
                          <a:spcPts val="1960"/>
                        </a:lnSpc>
                        <a:buNone/>
                      </a:pPr>
                      <a:r>
                        <a:rPr lang="en-US" sz="1400" b="1" dirty="0">
                          <a:solidFill>
                            <a:srgbClr val="16213A"/>
                          </a:solidFill>
                          <a:latin typeface="Rubik" pitchFamily="34" charset="0"/>
                          <a:ea typeface="Rubik" pitchFamily="34" charset="-122"/>
                          <a:cs typeface="Rubik" pitchFamily="34" charset="-120"/>
                        </a:rPr>
                        <a:t>rule</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1960"/>
                        </a:lnSpc>
                        <a:buNone/>
                      </a:pPr>
                      <a:r>
                        <a:rPr lang="en-US" sz="1400" b="1" dirty="0">
                          <a:solidFill>
                            <a:srgbClr val="16213A"/>
                          </a:solidFill>
                          <a:latin typeface="Rubik" pitchFamily="34" charset="0"/>
                          <a:ea typeface="Rubik" pitchFamily="34" charset="-122"/>
                          <a:cs typeface="Rubik" pitchFamily="34" charset="-120"/>
                        </a:rPr>
                        <a:t>8 s</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1960"/>
                        </a:lnSpc>
                        <a:buNone/>
                      </a:pPr>
                      <a:r>
                        <a:rPr lang="en-US" sz="1400" b="1" dirty="0">
                          <a:solidFill>
                            <a:srgbClr val="16213A"/>
                          </a:solidFill>
                          <a:latin typeface="Rubik" pitchFamily="34" charset="0"/>
                          <a:ea typeface="Rubik" pitchFamily="34" charset="-122"/>
                          <a:cs typeface="Rubik" pitchFamily="34" charset="-120"/>
                        </a:rPr>
                        <a:t>3 s</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bounce</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42%</a:t>
                      </a:r>
                      <a:endParaRPr lang="en-US" sz="1400" dirty="0">
                        <a:latin typeface="Rubik" charset="0"/>
                        <a:ea typeface="Rubik" charset="0"/>
                        <a:cs typeface="Rubik" charset="0"/>
                      </a:endParaRPr>
                    </a:p>
                  </a:txBody>
                  <a:tcPr marL="62230" marR="62230" marT="62230" marB="62230"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61%</a:t>
                      </a:r>
                      <a:endParaRPr lang="en-US" sz="1400" dirty="0">
                        <a:latin typeface="Rubik" charset="0"/>
                        <a:ea typeface="Rubik" charset="0"/>
                        <a:cs typeface="Rubik" charset="0"/>
                      </a:endParaRPr>
                    </a:p>
                  </a:txBody>
                  <a:tcPr marL="62230" marR="62230" marT="62230" marB="62230"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momentum</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B5A8"/>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B5A8"/>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39%</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B5A8"/>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majority</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49%</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52%</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7" name="Text 3"/>
          <p:cNvSpPr/>
          <p:nvPr/>
        </p:nvSpPr>
        <p:spPr>
          <a:xfrm>
            <a:off x="7467600" y="3543895"/>
            <a:ext cx="4028948"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Rubik" pitchFamily="34" charset="0"/>
                <a:ea typeface="Rubik" pitchFamily="34" charset="-122"/>
                <a:cs typeface="Rubik" pitchFamily="34" charset="-120"/>
              </a:rPr>
              <a:t>Sampled fast, the price flips between bid and ask, so “opposite of last move” works. At 8 s that’s gone. My “model” was really a model of how Coinbase quotes the price.</a:t>
            </a:r>
            <a:endParaRPr lang="en-US" sz="14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~15 min, 119 moves · a pattern from old data can stop working live (concept drift) · practice dl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41C"/>
                </a:solidFill>
                <a:latin typeface="JetBrains Mono" pitchFamily="49" charset="0"/>
                <a:ea typeface="JetBrains Mono" pitchFamily="49" charset="-122"/>
                <a:cs typeface="JetBrains Mono" pitchFamily="49" charset="-120"/>
              </a:rPr>
              <a:t>D1 · Q-LEARNING · FROZENLAKE + TAXI</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Rubik" pitchFamily="34" charset="0"/>
                <a:ea typeface="Rubik" pitchFamily="34" charset="-122"/>
                <a:cs typeface="Rubik" pitchFamily="34" charset="-120"/>
              </a:rPr>
              <a:t>No dataset, just trial and reward</a:t>
            </a:r>
            <a:endParaRPr lang="en-US" sz="3200" dirty="0"/>
          </a:p>
        </p:txBody>
      </p:sp>
      <p:sp>
        <p:nvSpPr>
          <p:cNvPr id="4" name="Shape 2"/>
          <p:cNvSpPr/>
          <p:nvPr/>
        </p:nvSpPr>
        <p:spPr>
          <a:xfrm>
            <a:off x="812800" y="1879550"/>
            <a:ext cx="10566400" cy="2349500"/>
          </a:xfrm>
          <a:prstGeom prst="roundRect">
            <a:avLst>
              <a:gd name="adj" fmla="val 4324"/>
            </a:avLst>
          </a:prstGeom>
          <a:solidFill>
            <a:srgbClr val="FFFFFF"/>
          </a:solidFill>
          <a:ln/>
        </p:spPr>
      </p:sp>
      <p:pic>
        <p:nvPicPr>
          <p:cNvPr id="5" name="Image 0" descr="My D1 training curves: FrozenLake success rate rising to about 55% while exploring, final policy 74%; Taxi reward rising from -780 to about +8">    </p:cNvPr>
          <p:cNvPicPr>
            <a:picLocks noChangeAspect="1"/>
          </p:cNvPicPr>
          <p:nvPr/>
        </p:nvPicPr>
        <p:blipFill>
          <a:blip r:embed="rId1"/>
          <a:stretch>
            <a:fillRect/>
          </a:stretch>
        </p:blipFill>
        <p:spPr>
          <a:xfrm>
            <a:off x="2702278" y="1879550"/>
            <a:ext cx="6787444" cy="234950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4444950"/>
          <a:ext cx="5448300" cy="1158032"/>
        </p:xfrm>
        <a:graphic>
          <a:graphicData uri="http://schemas.openxmlformats.org/drawingml/2006/table">
            <a:tbl>
              <a:tblPr/>
              <a:tblGrid>
                <a:gridCol w="2724150"/>
                <a:gridCol w="1362075"/>
                <a:gridCol w="1362075"/>
              </a:tblGrid>
              <a:tr h="386011">
                <a:tc>
                  <a:txBody>
                    <a:bodyPr/>
                    <a:lstStyle/>
                    <a:p>
                      <a:pPr indent="0" marL="0">
                        <a:lnSpc>
                          <a:spcPts val="1960"/>
                        </a:lnSpc>
                        <a:buNone/>
                      </a:pPr>
                      <a:r>
                        <a:rPr lang="en-US" sz="1400" b="1" dirty="0">
                          <a:solidFill>
                            <a:srgbClr val="16213A"/>
                          </a:solidFill>
                          <a:latin typeface="Rubik" pitchFamily="34" charset="0"/>
                          <a:ea typeface="Rubik" pitchFamily="34" charset="-122"/>
                          <a:cs typeface="Rubik" pitchFamily="34" charset="-120"/>
                        </a:rPr>
                        <a:t>game</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1960"/>
                        </a:lnSpc>
                        <a:buNone/>
                      </a:pPr>
                      <a:r>
                        <a:rPr lang="en-US" sz="1400" b="1" dirty="0">
                          <a:solidFill>
                            <a:srgbClr val="16213A"/>
                          </a:solidFill>
                          <a:latin typeface="Rubik" pitchFamily="34" charset="0"/>
                          <a:ea typeface="Rubik" pitchFamily="34" charset="-122"/>
                          <a:cs typeface="Rubik" pitchFamily="34" charset="-120"/>
                        </a:rPr>
                        <a:t>random</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1960"/>
                        </a:lnSpc>
                        <a:buNone/>
                      </a:pPr>
                      <a:r>
                        <a:rPr lang="en-US" sz="1400" b="1" dirty="0">
                          <a:solidFill>
                            <a:srgbClr val="16213A"/>
                          </a:solidFill>
                          <a:latin typeface="Rubik" pitchFamily="34" charset="0"/>
                          <a:ea typeface="Rubik" pitchFamily="34" charset="-122"/>
                          <a:cs typeface="Rubik" pitchFamily="34" charset="-120"/>
                        </a:rPr>
                        <a:t>Q-learning</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FrozenLake (goal %)</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0.9%</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74.2%</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Taxi (reward)</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−767.7</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+7.9</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7" name="Text 3"/>
          <p:cNvSpPr/>
          <p:nvPr/>
        </p:nvSpPr>
        <p:spPr>
          <a:xfrm>
            <a:off x="6527800" y="4432250"/>
            <a:ext cx="499694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Rubik" pitchFamily="34" charset="0"/>
                <a:ea typeface="Rubik" pitchFamily="34" charset="-122"/>
                <a:cs typeface="Rubik" pitchFamily="34" charset="-120"/>
              </a:rPr>
              <a:t>On the start square it pushes </a:t>
            </a:r>
            <a:r>
              <a:rPr lang="en-US" sz="1400" b="1" dirty="0">
                <a:solidFill>
                  <a:srgbClr val="16213A"/>
                </a:solidFill>
                <a:latin typeface="Rubik" pitchFamily="34" charset="0"/>
                <a:ea typeface="Rubik" pitchFamily="34" charset="-122"/>
                <a:cs typeface="Rubik" pitchFamily="34" charset="-120"/>
              </a:rPr>
              <a:t>into the wall</a:t>
            </a:r>
            <a:r>
              <a:rPr lang="en-US" sz="1400" dirty="0">
                <a:solidFill>
                  <a:srgbClr val="4A5160"/>
                </a:solidFill>
                <a:latin typeface="Rubik" pitchFamily="34" charset="0"/>
                <a:ea typeface="Rubik" pitchFamily="34" charset="-122"/>
                <a:cs typeface="Rubik" pitchFamily="34" charset="-120"/>
              </a:rPr>
              <a:t>. On slippery ice a slip then can’t send it into a hole. I wouldn’t have thought of that.</a:t>
            </a:r>
            <a:endParaRPr lang="en-US" sz="14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Tables of 16×4 and 500×6 values · trains in 2–3 s · practice dl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41C"/>
                </a:solidFill>
                <a:latin typeface="JetBrains Mono" pitchFamily="49" charset="0"/>
                <a:ea typeface="JetBrains Mono" pitchFamily="49" charset="-122"/>
                <a:cs typeface="JetBrains Mono" pitchFamily="49" charset="-120"/>
              </a:rPr>
              <a:t>D2 · DQN · CARTPOLE</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Rubik" pitchFamily="34" charset="0"/>
                <a:ea typeface="Rubik" pitchFamily="34" charset="-122"/>
                <a:cs typeface="Rubik" pitchFamily="34" charset="-120"/>
              </a:rPr>
              <a:t>DQN got a perfect 500, but not smoothly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050"/>
          <a:ext cx="4559300" cy="1930053"/>
        </p:xfrm>
        <a:graphic>
          <a:graphicData uri="http://schemas.openxmlformats.org/drawingml/2006/table">
            <a:tbl>
              <a:tblPr/>
              <a:tblGrid>
                <a:gridCol w="3191510"/>
                <a:gridCol w="1367790"/>
              </a:tblGrid>
              <a:tr h="386011">
                <a:tc>
                  <a:txBody>
                    <a:bodyPr/>
                    <a:lstStyle/>
                    <a:p>
                      <a:pPr indent="0" marL="0">
                        <a:lnSpc>
                          <a:spcPts val="1960"/>
                        </a:lnSpc>
                        <a:buNone/>
                      </a:pPr>
                      <a:r>
                        <a:rPr lang="en-US" sz="1400" b="1" dirty="0">
                          <a:solidFill>
                            <a:srgbClr val="16213A"/>
                          </a:solidFill>
                          <a:latin typeface="Rubik" pitchFamily="34" charset="0"/>
                          <a:ea typeface="Rubik" pitchFamily="34" charset="-122"/>
                          <a:cs typeface="Rubik" pitchFamily="34" charset="-120"/>
                        </a:rPr>
                        <a:t>agent</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algn="r" indent="0" marL="0">
                        <a:lnSpc>
                          <a:spcPts val="1960"/>
                        </a:lnSpc>
                        <a:buNone/>
                      </a:pPr>
                      <a:r>
                        <a:rPr lang="en-US" sz="1400" b="1" dirty="0">
                          <a:solidFill>
                            <a:srgbClr val="16213A"/>
                          </a:solidFill>
                          <a:latin typeface="Rubik" pitchFamily="34" charset="0"/>
                          <a:ea typeface="Rubik" pitchFamily="34" charset="-122"/>
                          <a:cs typeface="Rubik" pitchFamily="34" charset="-120"/>
                        </a:rPr>
                        <a:t>avg steps</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random pushes</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21.9</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my 1-line physics rule</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500.0</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Q-table with bins</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487.8</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DQN (20 s on CPU)</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c>
                  <a:txBody>
                    <a:bodyPr/>
                    <a:lstStyle/>
                    <a:p>
                      <a:pPr algn="r" indent="0" marL="0">
                        <a:lnSpc>
                          <a:spcPts val="1960"/>
                        </a:lnSpc>
                        <a:buNone/>
                      </a:pPr>
                      <a:r>
                        <a:rPr lang="en-US" sz="1400" dirty="0">
                          <a:solidFill>
                            <a:srgbClr val="16213A"/>
                          </a:solidFill>
                          <a:latin typeface="Rubik" pitchFamily="34" charset="0"/>
                          <a:ea typeface="Rubik" pitchFamily="34" charset="-122"/>
                          <a:cs typeface="Rubik" pitchFamily="34" charset="-120"/>
                        </a:rPr>
                        <a:t>500.0</a:t>
                      </a:r>
                      <a:endParaRPr lang="en-US" sz="1400" dirty="0">
                        <a:latin typeface="Rubik" charset="0"/>
                        <a:ea typeface="Rubik" charset="0"/>
                        <a:cs typeface="Rubik" charset="0"/>
                      </a:endParaRPr>
                    </a:p>
                  </a:txBody>
                  <a:tcPr marL="62230" marR="62230" marT="62230" marB="62230" anchor="t">
                    <a:lnL w="12700" cap="flat" cmpd="sng" algn="ctr">
                      <a:solidFill>
                        <a:srgbClr val="C8B5A8"/>
                      </a:solidFill>
                      <a:prstDash val="solid"/>
                      <a:round/>
                      <a:headEnd type="none" w="med" len="med"/>
                      <a:tailEnd type="none" w="med" len="med"/>
                    </a:lnL>
                    <a:lnR w="12700" cap="flat" cmpd="sng" algn="ctr">
                      <a:solidFill>
                        <a:srgbClr val="C8B5A8"/>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B5A8"/>
                      </a:solidFill>
                      <a:prstDash val="solid"/>
                      <a:round/>
                      <a:headEnd type="none" w="med" len="med"/>
                      <a:tailEnd type="none" w="med" len="med"/>
                    </a:lnB>
                    <a:solidFill>
                      <a:srgbClr val="FBE3D2"/>
                    </a:solidFill>
                  </a:tcPr>
                </a:tc>
              </a:tr>
            </a:tbl>
          </a:graphicData>
        </a:graphic>
      </p:graphicFrame>
      <p:sp>
        <p:nvSpPr>
          <p:cNvPr id="5" name="Text 2"/>
          <p:cNvSpPr/>
          <p:nvPr/>
        </p:nvSpPr>
        <p:spPr>
          <a:xfrm>
            <a:off x="812800" y="4025503"/>
            <a:ext cx="470916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Rubik" pitchFamily="34" charset="0"/>
                <a:ea typeface="Rubik" pitchFamily="34" charset="-122"/>
                <a:cs typeface="Rubik" pitchFamily="34" charset="-120"/>
              </a:rPr>
              <a:t>DQN learned it from +1 rewards alone, without knowing any physics.</a:t>
            </a:r>
            <a:endParaRPr lang="en-US" sz="1400" dirty="0"/>
          </a:p>
        </p:txBody>
      </p:sp>
      <p:sp>
        <p:nvSpPr>
          <p:cNvPr id="6" name="Shape 3"/>
          <p:cNvSpPr/>
          <p:nvPr/>
        </p:nvSpPr>
        <p:spPr>
          <a:xfrm>
            <a:off x="5743575" y="1933525"/>
            <a:ext cx="5632450" cy="3211810"/>
          </a:xfrm>
          <a:prstGeom prst="roundRect">
            <a:avLst>
              <a:gd name="adj" fmla="val 3064"/>
            </a:avLst>
          </a:prstGeom>
          <a:solidFill>
            <a:srgbClr val="FFFFFF"/>
          </a:solidFill>
          <a:ln w="6350">
            <a:solidFill>
              <a:srgbClr val="E1DDD3"/>
            </a:solidFill>
            <a:prstDash val="solid"/>
          </a:ln>
        </p:spPr>
      </p:sp>
      <p:sp>
        <p:nvSpPr>
          <p:cNvPr id="7" name="Text 4"/>
          <p:cNvSpPr/>
          <p:nvPr/>
        </p:nvSpPr>
        <p:spPr>
          <a:xfrm>
            <a:off x="5949950" y="2139900"/>
            <a:ext cx="53762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13A"/>
                </a:solidFill>
                <a:latin typeface="Rubik" pitchFamily="34" charset="0"/>
                <a:ea typeface="Rubik" pitchFamily="34" charset="-122"/>
                <a:cs typeface="Rubik" pitchFamily="34" charset="-120"/>
              </a:rPr>
              <a:t>Greedy test score while training</a:t>
            </a:r>
            <a:endParaRPr lang="en-US" sz="1500" dirty="0"/>
          </a:p>
        </p:txBody>
      </p:sp>
      <p:pic>
        <p:nvPicPr>
          <p:cNvPr id="8" name="Image 0" descr="DQN greedy test score every 20 episodes: 88, 70, 19, 371, 271, 139, 120, 103, 86, 43, 53, 68, 111, 81, 134, 108, 500, 500, 96, 500">    </p:cNvPr>
          <p:cNvPicPr>
            <a:picLocks noChangeAspect="1"/>
          </p:cNvPicPr>
          <p:nvPr/>
        </p:nvPicPr>
        <p:blipFill>
          <a:blip r:embed="rId1"/>
          <a:srcRect l="0" r="0" t="0" b="0"/>
          <a:stretch/>
        </p:blipFill>
        <p:spPr>
          <a:xfrm>
            <a:off x="5949950" y="2470100"/>
            <a:ext cx="5207000" cy="1905000"/>
          </a:xfrm>
          <a:prstGeom prst="rect">
            <a:avLst/>
          </a:prstGeom>
        </p:spPr>
      </p:pic>
      <p:sp>
        <p:nvSpPr>
          <p:cNvPr id="9" name="Text 5"/>
          <p:cNvSpPr/>
          <p:nvPr/>
        </p:nvSpPr>
        <p:spPr>
          <a:xfrm>
            <a:off x="5949950" y="4476700"/>
            <a:ext cx="5376291"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Rubik" pitchFamily="34" charset="0"/>
                <a:ea typeface="Rubik" pitchFamily="34" charset="-122"/>
                <a:cs typeface="Rubik" pitchFamily="34" charset="-120"/>
              </a:rPr>
              <a:t>370 → </a:t>
            </a:r>
            <a:r>
              <a:rPr lang="en-US" sz="1300" b="1" dirty="0">
                <a:solidFill>
                  <a:srgbClr val="B5541C"/>
                </a:solidFill>
                <a:latin typeface="Rubik" pitchFamily="34" charset="0"/>
                <a:ea typeface="Rubik" pitchFamily="34" charset="-122"/>
                <a:cs typeface="Rubik" pitchFamily="34" charset="-120"/>
              </a:rPr>
              <a:t>43</a:t>
            </a:r>
            <a:r>
              <a:rPr lang="en-US" sz="1300" dirty="0">
                <a:solidFill>
                  <a:srgbClr val="4A5160"/>
                </a:solidFill>
                <a:latin typeface="Rubik" pitchFamily="34" charset="0"/>
                <a:ea typeface="Rubik" pitchFamily="34" charset="-122"/>
                <a:cs typeface="Rubik" pitchFamily="34" charset="-120"/>
              </a:rPr>
              <a:t> → 500 → 96 → 500. The net “forgets” as it trains, so I test every 20 episodes and keep the best version.</a:t>
            </a:r>
            <a:endParaRPr lang="en-US" sz="1300" dirty="0"/>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Net 4 → 128 → 128 → 2 · replay buffer + target network · 400 episodes · practice dl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41C"/>
                </a:solidFill>
                <a:latin typeface="JetBrains Mono" pitchFamily="49" charset="0"/>
                <a:ea typeface="JetBrains Mono" pitchFamily="49" charset="-122"/>
                <a:cs typeface="JetBrains Mono" pitchFamily="49" charset="-120"/>
              </a:rPr>
              <a:t>ALL RESULTS</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Rubik" pitchFamily="34" charset="0"/>
                <a:ea typeface="Rubik" pitchFamily="34" charset="-122"/>
                <a:cs typeface="Rubik" pitchFamily="34" charset="-120"/>
              </a:rPr>
              <a:t>Best model vs baseline in every step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10553700" cy="3474095"/>
        </p:xfrm>
        <a:graphic>
          <a:graphicData uri="http://schemas.openxmlformats.org/drawingml/2006/table">
            <a:tbl>
              <a:tblPr/>
              <a:tblGrid>
                <a:gridCol w="1266444"/>
                <a:gridCol w="3166110"/>
                <a:gridCol w="2321814"/>
                <a:gridCol w="3799332"/>
              </a:tblGrid>
              <a:tr h="386011">
                <a:tc>
                  <a:txBody>
                    <a:bodyPr/>
                    <a:lstStyle/>
                    <a:p>
                      <a:pPr indent="0" marL="0">
                        <a:lnSpc>
                          <a:spcPts val="1960"/>
                        </a:lnSpc>
                        <a:buNone/>
                      </a:pPr>
                      <a:r>
                        <a:rPr lang="en-US" sz="1400" b="1" dirty="0">
                          <a:solidFill>
                            <a:srgbClr val="16213A"/>
                          </a:solidFill>
                          <a:latin typeface="Rubik" pitchFamily="34" charset="0"/>
                          <a:ea typeface="Rubik" pitchFamily="34" charset="-122"/>
                          <a:cs typeface="Rubik" pitchFamily="34" charset="-120"/>
                        </a:rPr>
                        <a:t>step</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6213A"/>
                          </a:solidFill>
                          <a:latin typeface="Rubik" pitchFamily="34" charset="0"/>
                          <a:ea typeface="Rubik" pitchFamily="34" charset="-122"/>
                          <a:cs typeface="Rubik" pitchFamily="34" charset="-120"/>
                        </a:rPr>
                        <a:t>task</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6213A"/>
                          </a:solidFill>
                          <a:latin typeface="Rubik" pitchFamily="34" charset="0"/>
                          <a:ea typeface="Rubik" pitchFamily="34" charset="-122"/>
                          <a:cs typeface="Rubik" pitchFamily="34" charset="-120"/>
                        </a:rPr>
                        <a:t>baseline</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6213A"/>
                          </a:solidFill>
                          <a:latin typeface="Rubik" pitchFamily="34" charset="0"/>
                          <a:ea typeface="Rubik" pitchFamily="34" charset="-122"/>
                          <a:cs typeface="Rubik" pitchFamily="34" charset="-120"/>
                        </a:rPr>
                        <a:t>best</a:t>
                      </a:r>
                      <a:endParaRPr lang="en-US" sz="1400" dirty="0">
                        <a:latin typeface="Rubik" charset="0"/>
                        <a:ea typeface="Rubik" charset="0"/>
                        <a:cs typeface="Rubik"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A1</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CIFAR-10 photos</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MLP 51.7%</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CNN 88.0%</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A2</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CIFAR-10 photos</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my CNN 88.0%</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finetuned ResNet 95.2%</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B1</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IMDB sentiment</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word list 70.5%</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logreg + pairs 90.6%</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B2</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IMDB sentiment</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B1 logreg 90.6%</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avg embeddings 87.4%</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B3</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IMDB sentiment</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B1 logreg 90.6%</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DistilBERT 91.8%</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C</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BTC next move, live</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coin flip 50%</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bounce 61% (3 s), 42% (8 s)</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D1</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FrozenLake</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random 0.9%</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Q-learning 74.2%</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D2</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CartPole</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random 21.9</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Rubik" pitchFamily="34" charset="0"/>
                          <a:ea typeface="Rubik" pitchFamily="34" charset="-122"/>
                          <a:cs typeface="Rubik" pitchFamily="34" charset="-120"/>
                        </a:rPr>
                        <a:t>DQN 500 (rule 500 too)</a:t>
                      </a:r>
                      <a:endParaRPr lang="en-US" sz="1400" dirty="0">
                        <a:latin typeface="Rubik" charset="0"/>
                        <a:ea typeface="Rubik" charset="0"/>
                        <a:cs typeface="Rubik"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Bold = beat the baseline. B2 is the one step where nothing beat it · practice dl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1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A774"/>
                </a:solidFill>
                <a:latin typeface="JetBrains Mono" pitchFamily="49" charset="0"/>
                <a:ea typeface="JetBrains Mono" pitchFamily="49" charset="-122"/>
                <a:cs typeface="JetBrains Mono" pitchFamily="49" charset="-120"/>
              </a:rPr>
              <a:t>PROBLEMS I RAN INTO</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Rubik" pitchFamily="34" charset="0"/>
                <a:ea typeface="Rubik" pitchFamily="34" charset="-122"/>
                <a:cs typeface="Rubik" pitchFamily="34" charset="-120"/>
              </a:rPr>
              <a:t>What broke and how I fixed it</a:t>
            </a:r>
            <a:endParaRPr lang="en-US" sz="3200" dirty="0"/>
          </a:p>
        </p:txBody>
      </p:sp>
      <p:sp>
        <p:nvSpPr>
          <p:cNvPr id="4" name="Shape 2"/>
          <p:cNvSpPr/>
          <p:nvPr/>
        </p:nvSpPr>
        <p:spPr>
          <a:xfrm>
            <a:off x="812800" y="1981150"/>
            <a:ext cx="3420517" cy="1564481"/>
          </a:xfrm>
          <a:prstGeom prst="roundRect">
            <a:avLst>
              <a:gd name="adj" fmla="val 6494"/>
            </a:avLst>
          </a:prstGeom>
          <a:solidFill>
            <a:srgbClr val="22304F"/>
          </a:solidFill>
          <a:ln/>
        </p:spPr>
      </p:sp>
      <p:sp>
        <p:nvSpPr>
          <p:cNvPr id="5" name="Text 3"/>
          <p:cNvSpPr/>
          <p:nvPr/>
        </p:nvSpPr>
        <p:spPr>
          <a:xfrm>
            <a:off x="1016000" y="2184350"/>
            <a:ext cx="3104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774"/>
                </a:solidFill>
                <a:latin typeface="Rubik" pitchFamily="34" charset="0"/>
                <a:ea typeface="Rubik" pitchFamily="34" charset="-122"/>
                <a:cs typeface="Rubik" pitchFamily="34" charset="-120"/>
              </a:rPr>
              <a:t>No pip in my venv</a:t>
            </a:r>
            <a:endParaRPr lang="en-US" sz="1500" dirty="0"/>
          </a:p>
        </p:txBody>
      </p:sp>
      <p:sp>
        <p:nvSpPr>
          <p:cNvPr id="6" name="Text 4"/>
          <p:cNvSpPr/>
          <p:nvPr/>
        </p:nvSpPr>
        <p:spPr>
          <a:xfrm>
            <a:off x="1016000" y="2489150"/>
            <a:ext cx="310454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0"/>
                </a:solidFill>
                <a:latin typeface="Rubik" pitchFamily="34" charset="0"/>
                <a:ea typeface="Rubik" pitchFamily="34" charset="-122"/>
                <a:cs typeface="Rubik" pitchFamily="34" charset="-120"/>
              </a:rPr>
              <a:t>“command not found: pip”, then “No module named pip”. Fixed with python -m ensurepip, and now I always use python -m pip.</a:t>
            </a:r>
            <a:endParaRPr lang="en-US" sz="1200" dirty="0"/>
          </a:p>
        </p:txBody>
      </p:sp>
      <p:sp>
        <p:nvSpPr>
          <p:cNvPr id="7" name="Shape 5"/>
          <p:cNvSpPr/>
          <p:nvPr/>
        </p:nvSpPr>
        <p:spPr>
          <a:xfrm>
            <a:off x="4385717" y="1981150"/>
            <a:ext cx="3420517" cy="1564481"/>
          </a:xfrm>
          <a:prstGeom prst="roundRect">
            <a:avLst>
              <a:gd name="adj" fmla="val 6494"/>
            </a:avLst>
          </a:prstGeom>
          <a:solidFill>
            <a:srgbClr val="22304F"/>
          </a:solidFill>
          <a:ln/>
        </p:spPr>
      </p:sp>
      <p:sp>
        <p:nvSpPr>
          <p:cNvPr id="8" name="Text 6"/>
          <p:cNvSpPr/>
          <p:nvPr/>
        </p:nvSpPr>
        <p:spPr>
          <a:xfrm>
            <a:off x="4588917" y="2184350"/>
            <a:ext cx="3104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774"/>
                </a:solidFill>
                <a:latin typeface="Rubik" pitchFamily="34" charset="0"/>
                <a:ea typeface="Rubik" pitchFamily="34" charset="-122"/>
                <a:cs typeface="Rubik" pitchFamily="34" charset="-120"/>
              </a:rPr>
              <a:t>IMDB download refused</a:t>
            </a:r>
            <a:endParaRPr lang="en-US" sz="1500" dirty="0"/>
          </a:p>
        </p:txBody>
      </p:sp>
      <p:sp>
        <p:nvSpPr>
          <p:cNvPr id="9" name="Text 7"/>
          <p:cNvSpPr/>
          <p:nvPr/>
        </p:nvSpPr>
        <p:spPr>
          <a:xfrm>
            <a:off x="4588917" y="2489150"/>
            <a:ext cx="310454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0"/>
                </a:solidFill>
                <a:latin typeface="Rubik" pitchFamily="34" charset="0"/>
                <a:ea typeface="Rubik" pitchFamily="34" charset="-122"/>
                <a:cs typeface="Rubik" pitchFamily="34" charset="-120"/>
              </a:rPr>
              <a:t>Stanford’s server gave “Errno 61 Connection refused”. Switched to the same data on Hugging Face, Stanford as backup.</a:t>
            </a:r>
            <a:endParaRPr lang="en-US" sz="1200" dirty="0"/>
          </a:p>
        </p:txBody>
      </p:sp>
      <p:sp>
        <p:nvSpPr>
          <p:cNvPr id="10" name="Shape 8"/>
          <p:cNvSpPr/>
          <p:nvPr/>
        </p:nvSpPr>
        <p:spPr>
          <a:xfrm>
            <a:off x="7958634" y="1981150"/>
            <a:ext cx="3420566" cy="1564481"/>
          </a:xfrm>
          <a:prstGeom prst="roundRect">
            <a:avLst>
              <a:gd name="adj" fmla="val 6494"/>
            </a:avLst>
          </a:prstGeom>
          <a:solidFill>
            <a:srgbClr val="22304F"/>
          </a:solidFill>
          <a:ln/>
        </p:spPr>
      </p:sp>
      <p:sp>
        <p:nvSpPr>
          <p:cNvPr id="11" name="Text 9"/>
          <p:cNvSpPr/>
          <p:nvPr/>
        </p:nvSpPr>
        <p:spPr>
          <a:xfrm>
            <a:off x="8161834" y="2184350"/>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774"/>
                </a:solidFill>
                <a:latin typeface="Rubik" pitchFamily="34" charset="0"/>
                <a:ea typeface="Rubik" pitchFamily="34" charset="-122"/>
                <a:cs typeface="Rubik" pitchFamily="34" charset="-120"/>
              </a:rPr>
              <a:t>GPU out of memory</a:t>
            </a:r>
            <a:endParaRPr lang="en-US" sz="1500" dirty="0"/>
          </a:p>
        </p:txBody>
      </p:sp>
      <p:sp>
        <p:nvSpPr>
          <p:cNvPr id="12" name="Text 10"/>
          <p:cNvSpPr/>
          <p:nvPr/>
        </p:nvSpPr>
        <p:spPr>
          <a:xfrm>
            <a:off x="8161834" y="2489150"/>
            <a:ext cx="3104591"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0"/>
                </a:solidFill>
                <a:latin typeface="Rubik" pitchFamily="34" charset="0"/>
                <a:ea typeface="Rubik" pitchFamily="34" charset="-122"/>
                <a:cs typeface="Rubik" pitchFamily="34" charset="-120"/>
              </a:rPr>
              <a:t>BiLSTM testing crashed with “MPS backend out of memory”. Smaller batches weren’t enough, so it now falls back to the CPU.</a:t>
            </a:r>
            <a:endParaRPr lang="en-US" sz="1200" dirty="0"/>
          </a:p>
        </p:txBody>
      </p:sp>
      <p:sp>
        <p:nvSpPr>
          <p:cNvPr id="13" name="Shape 11"/>
          <p:cNvSpPr/>
          <p:nvPr/>
        </p:nvSpPr>
        <p:spPr>
          <a:xfrm>
            <a:off x="812800" y="3698032"/>
            <a:ext cx="3420517" cy="1351161"/>
          </a:xfrm>
          <a:prstGeom prst="roundRect">
            <a:avLst>
              <a:gd name="adj" fmla="val 7519"/>
            </a:avLst>
          </a:prstGeom>
          <a:solidFill>
            <a:srgbClr val="22304F"/>
          </a:solidFill>
          <a:ln/>
        </p:spPr>
      </p:sp>
      <p:sp>
        <p:nvSpPr>
          <p:cNvPr id="14" name="Text 12"/>
          <p:cNvSpPr/>
          <p:nvPr/>
        </p:nvSpPr>
        <p:spPr>
          <a:xfrm>
            <a:off x="1016000" y="3901232"/>
            <a:ext cx="3104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774"/>
                </a:solidFill>
                <a:latin typeface="Rubik" pitchFamily="34" charset="0"/>
                <a:ea typeface="Rubik" pitchFamily="34" charset="-122"/>
                <a:cs typeface="Rubik" pitchFamily="34" charset="-120"/>
              </a:rPr>
              <a:t>Running the old file</a:t>
            </a:r>
            <a:endParaRPr lang="en-US" sz="1500" dirty="0"/>
          </a:p>
        </p:txBody>
      </p:sp>
      <p:sp>
        <p:nvSpPr>
          <p:cNvPr id="15" name="Text 13"/>
          <p:cNvSpPr/>
          <p:nvPr/>
        </p:nvSpPr>
        <p:spPr>
          <a:xfrm>
            <a:off x="1016000" y="4206032"/>
            <a:ext cx="31045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0"/>
                </a:solidFill>
                <a:latin typeface="Rubik" pitchFamily="34" charset="0"/>
                <a:ea typeface="Rubik" pitchFamily="34" charset="-122"/>
                <a:cs typeface="Rubik" pitchFamily="34" charset="-120"/>
              </a:rPr>
              <a:t>Same crash again because I hadn’t saved the new version. The line number in the traceback gave it away.</a:t>
            </a:r>
            <a:endParaRPr lang="en-US" sz="1200" dirty="0"/>
          </a:p>
        </p:txBody>
      </p:sp>
      <p:sp>
        <p:nvSpPr>
          <p:cNvPr id="16" name="Shape 14"/>
          <p:cNvSpPr/>
          <p:nvPr/>
        </p:nvSpPr>
        <p:spPr>
          <a:xfrm>
            <a:off x="4385717" y="3698032"/>
            <a:ext cx="3420517" cy="1351161"/>
          </a:xfrm>
          <a:prstGeom prst="roundRect">
            <a:avLst>
              <a:gd name="adj" fmla="val 7519"/>
            </a:avLst>
          </a:prstGeom>
          <a:solidFill>
            <a:srgbClr val="22304F"/>
          </a:solidFill>
          <a:ln/>
        </p:spPr>
      </p:sp>
      <p:sp>
        <p:nvSpPr>
          <p:cNvPr id="17" name="Text 15"/>
          <p:cNvSpPr/>
          <p:nvPr/>
        </p:nvSpPr>
        <p:spPr>
          <a:xfrm>
            <a:off x="4588917" y="3901232"/>
            <a:ext cx="3104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774"/>
                </a:solidFill>
                <a:latin typeface="Rubik" pitchFamily="34" charset="0"/>
                <a:ea typeface="Rubik" pitchFamily="34" charset="-122"/>
                <a:cs typeface="Rubik" pitchFamily="34" charset="-120"/>
              </a:rPr>
              <a:t>App bugs</a:t>
            </a:r>
            <a:endParaRPr lang="en-US" sz="1500" dirty="0"/>
          </a:p>
        </p:txBody>
      </p:sp>
      <p:sp>
        <p:nvSpPr>
          <p:cNvPr id="18" name="Text 16"/>
          <p:cNvSpPr/>
          <p:nvPr/>
        </p:nvSpPr>
        <p:spPr>
          <a:xfrm>
            <a:off x="4588917" y="4206032"/>
            <a:ext cx="31045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0"/>
                </a:solidFill>
                <a:latin typeface="Rubik" pitchFamily="34" charset="0"/>
                <a:ea typeface="Rubik" pitchFamily="34" charset="-122"/>
                <a:cs typeface="Rubik" pitchFamily="34" charset="-120"/>
              </a:rPr>
              <a:t>Price chart started at 0 so BTC looked flat, and an old app was still on port 8501, so the new one opened on 8502.</a:t>
            </a:r>
            <a:endParaRPr lang="en-US" sz="1200" dirty="0"/>
          </a:p>
        </p:txBody>
      </p:sp>
      <p:sp>
        <p:nvSpPr>
          <p:cNvPr id="19" name="Shape 17"/>
          <p:cNvSpPr/>
          <p:nvPr/>
        </p:nvSpPr>
        <p:spPr>
          <a:xfrm>
            <a:off x="7958634" y="3698032"/>
            <a:ext cx="3420566" cy="1351161"/>
          </a:xfrm>
          <a:prstGeom prst="roundRect">
            <a:avLst>
              <a:gd name="adj" fmla="val 7519"/>
            </a:avLst>
          </a:prstGeom>
          <a:solidFill>
            <a:srgbClr val="22304F"/>
          </a:solidFill>
          <a:ln/>
        </p:spPr>
      </p:sp>
      <p:sp>
        <p:nvSpPr>
          <p:cNvPr id="20" name="Text 18"/>
          <p:cNvSpPr/>
          <p:nvPr/>
        </p:nvSpPr>
        <p:spPr>
          <a:xfrm>
            <a:off x="8161834" y="3901232"/>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774"/>
                </a:solidFill>
                <a:latin typeface="Rubik" pitchFamily="34" charset="0"/>
                <a:ea typeface="Rubik" pitchFamily="34" charset="-122"/>
                <a:cs typeface="Rubik" pitchFamily="34" charset="-120"/>
              </a:rPr>
              <a:t>Models stuck below baseline</a:t>
            </a:r>
            <a:endParaRPr lang="en-US" sz="1500" dirty="0"/>
          </a:p>
        </p:txBody>
      </p:sp>
      <p:sp>
        <p:nvSpPr>
          <p:cNvPr id="21" name="Text 19"/>
          <p:cNvSpPr/>
          <p:nvPr/>
        </p:nvSpPr>
        <p:spPr>
          <a:xfrm>
            <a:off x="8161834" y="4206032"/>
            <a:ext cx="310459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0"/>
                </a:solidFill>
                <a:latin typeface="Rubik" pitchFamily="34" charset="0"/>
                <a:ea typeface="Rubik" pitchFamily="34" charset="-122"/>
                <a:cs typeface="Rubik" pitchFamily="34" charset="-120"/>
              </a:rPr>
              <a:t>DistilBERT first got 88.2% (fixed by reading the review ending). DQN first got stuck near 300 (fixed by tuning).</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A"/>
                </a:solidFill>
                <a:latin typeface="Rubik" pitchFamily="34" charset="0"/>
                <a:ea typeface="Rubik" pitchFamily="34" charset="-122"/>
                <a:cs typeface="Rubik" pitchFamily="34" charset="-120"/>
              </a:rPr>
              <a:t>Also a VS Code “Extension activation failed” popup, which turned out to be harmless · practice dl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41C"/>
                </a:solidFill>
                <a:latin typeface="JetBrains Mono" pitchFamily="49" charset="0"/>
                <a:ea typeface="JetBrains Mono" pitchFamily="49" charset="-122"/>
                <a:cs typeface="JetBrains Mono" pitchFamily="49" charset="-120"/>
              </a:rPr>
              <a:t>WHAT I LEARNED</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Rubik" pitchFamily="34" charset="0"/>
                <a:ea typeface="Rubik" pitchFamily="34" charset="-122"/>
                <a:cs typeface="Rubik" pitchFamily="34" charset="-120"/>
              </a:rPr>
              <a:t>Five things I’ll remember</a:t>
            </a:r>
            <a:endParaRPr lang="en-US" sz="3200" dirty="0"/>
          </a:p>
        </p:txBody>
      </p:sp>
      <p:sp>
        <p:nvSpPr>
          <p:cNvPr id="4" name="Shape 2"/>
          <p:cNvSpPr/>
          <p:nvPr/>
        </p:nvSpPr>
        <p:spPr>
          <a:xfrm>
            <a:off x="812800" y="1984325"/>
            <a:ext cx="10566400" cy="0"/>
          </a:xfrm>
          <a:prstGeom prst="line">
            <a:avLst/>
          </a:prstGeom>
          <a:noFill/>
          <a:ln w="6350">
            <a:solidFill>
              <a:srgbClr val="D8D3C7"/>
            </a:solidFill>
            <a:prstDash val="solid"/>
          </a:ln>
        </p:spPr>
      </p:sp>
      <p:sp>
        <p:nvSpPr>
          <p:cNvPr id="5" name="Text 3"/>
          <p:cNvSpPr/>
          <p:nvPr/>
        </p:nvSpPr>
        <p:spPr>
          <a:xfrm>
            <a:off x="812800" y="2114500"/>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5D8C"/>
                </a:solidFill>
                <a:latin typeface="JetBrains Mono" pitchFamily="49" charset="0"/>
                <a:ea typeface="JetBrains Mono" pitchFamily="49" charset="-122"/>
                <a:cs typeface="JetBrains Mono" pitchFamily="49" charset="-120"/>
              </a:rPr>
              <a:t>1</a:t>
            </a:r>
            <a:endParaRPr lang="en-US" sz="1600" dirty="0"/>
          </a:p>
        </p:txBody>
      </p:sp>
      <p:sp>
        <p:nvSpPr>
          <p:cNvPr id="6" name="Text 4"/>
          <p:cNvSpPr/>
          <p:nvPr/>
        </p:nvSpPr>
        <p:spPr>
          <a:xfrm>
            <a:off x="1447800" y="2133550"/>
            <a:ext cx="10229342"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213A"/>
                </a:solidFill>
                <a:latin typeface="Rubik" pitchFamily="34" charset="0"/>
                <a:ea typeface="Rubik" pitchFamily="34" charset="-122"/>
                <a:cs typeface="Rubik" pitchFamily="34" charset="-120"/>
              </a:rPr>
              <a:t>Pretrained models are worth a ton of data.</a:t>
            </a:r>
            <a:r>
              <a:rPr lang="en-US" sz="1500" dirty="0">
                <a:solidFill>
                  <a:srgbClr val="16213A"/>
                </a:solidFill>
                <a:latin typeface="Rubik" pitchFamily="34" charset="0"/>
                <a:ea typeface="Rubik" pitchFamily="34" charset="-122"/>
                <a:cs typeface="Rubik" pitchFamily="34" charset="-120"/>
              </a:rPr>
              <a:t> </a:t>
            </a:r>
            <a:r>
              <a:rPr lang="en-US" sz="1500" dirty="0">
                <a:solidFill>
                  <a:srgbClr val="4A5160"/>
                </a:solidFill>
                <a:latin typeface="Rubik" pitchFamily="34" charset="0"/>
                <a:ea typeface="Rubik" pitchFamily="34" charset="-122"/>
                <a:cs typeface="Rubik" pitchFamily="34" charset="-120"/>
              </a:rPr>
              <a:t>ResNet on 2k photos ≈ my CNN on 45k. DistilBERT on 8k reviews beat logreg on 25k.</a:t>
            </a:r>
            <a:endParaRPr lang="en-US" sz="1500" dirty="0"/>
          </a:p>
        </p:txBody>
      </p:sp>
      <p:sp>
        <p:nvSpPr>
          <p:cNvPr id="7" name="Shape 5"/>
          <p:cNvSpPr/>
          <p:nvPr/>
        </p:nvSpPr>
        <p:spPr>
          <a:xfrm>
            <a:off x="812800" y="2778075"/>
            <a:ext cx="10566400" cy="0"/>
          </a:xfrm>
          <a:prstGeom prst="line">
            <a:avLst/>
          </a:prstGeom>
          <a:noFill/>
          <a:ln w="6350">
            <a:solidFill>
              <a:srgbClr val="D8D3C7"/>
            </a:solidFill>
            <a:prstDash val="solid"/>
          </a:ln>
        </p:spPr>
      </p:sp>
      <p:sp>
        <p:nvSpPr>
          <p:cNvPr id="8" name="Text 6"/>
          <p:cNvSpPr/>
          <p:nvPr/>
        </p:nvSpPr>
        <p:spPr>
          <a:xfrm>
            <a:off x="812800" y="2908250"/>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5D8C"/>
                </a:solidFill>
                <a:latin typeface="JetBrains Mono" pitchFamily="49" charset="0"/>
                <a:ea typeface="JetBrains Mono" pitchFamily="49" charset="-122"/>
                <a:cs typeface="JetBrains Mono" pitchFamily="49" charset="-120"/>
              </a:rPr>
              <a:t>2</a:t>
            </a:r>
            <a:endParaRPr lang="en-US" sz="1600" dirty="0"/>
          </a:p>
        </p:txBody>
      </p:sp>
      <p:sp>
        <p:nvSpPr>
          <p:cNvPr id="9" name="Text 7"/>
          <p:cNvSpPr/>
          <p:nvPr/>
        </p:nvSpPr>
        <p:spPr>
          <a:xfrm>
            <a:off x="1447800" y="2927300"/>
            <a:ext cx="1022934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213A"/>
                </a:solidFill>
                <a:latin typeface="Rubik" pitchFamily="34" charset="0"/>
                <a:ea typeface="Rubik" pitchFamily="34" charset="-122"/>
                <a:cs typeface="Rubik" pitchFamily="34" charset="-120"/>
              </a:rPr>
              <a:t>Simple baselines are hard to beat.</a:t>
            </a:r>
            <a:r>
              <a:rPr lang="en-US" sz="1500" dirty="0">
                <a:solidFill>
                  <a:srgbClr val="16213A"/>
                </a:solidFill>
                <a:latin typeface="Rubik" pitchFamily="34" charset="0"/>
                <a:ea typeface="Rubik" pitchFamily="34" charset="-122"/>
                <a:cs typeface="Rubik" pitchFamily="34" charset="-120"/>
              </a:rPr>
              <a:t> </a:t>
            </a:r>
            <a:r>
              <a:rPr lang="en-US" sz="1500" dirty="0">
                <a:solidFill>
                  <a:srgbClr val="4A5160"/>
                </a:solidFill>
                <a:latin typeface="Rubik" pitchFamily="34" charset="0"/>
                <a:ea typeface="Rubik" pitchFamily="34" charset="-122"/>
                <a:cs typeface="Rubik" pitchFamily="34" charset="-120"/>
              </a:rPr>
              <a:t>Logreg beat both neural nets in B2. A 1-line rule balanced CartPole.</a:t>
            </a:r>
            <a:endParaRPr lang="en-US" sz="1500" dirty="0"/>
          </a:p>
        </p:txBody>
      </p:sp>
      <p:sp>
        <p:nvSpPr>
          <p:cNvPr id="10" name="Shape 8"/>
          <p:cNvSpPr/>
          <p:nvPr/>
        </p:nvSpPr>
        <p:spPr>
          <a:xfrm>
            <a:off x="812800" y="3322886"/>
            <a:ext cx="10566400" cy="0"/>
          </a:xfrm>
          <a:prstGeom prst="line">
            <a:avLst/>
          </a:prstGeom>
          <a:noFill/>
          <a:ln w="6350">
            <a:solidFill>
              <a:srgbClr val="D8D3C7"/>
            </a:solidFill>
            <a:prstDash val="solid"/>
          </a:ln>
        </p:spPr>
      </p:sp>
      <p:sp>
        <p:nvSpPr>
          <p:cNvPr id="11" name="Text 9"/>
          <p:cNvSpPr/>
          <p:nvPr/>
        </p:nvSpPr>
        <p:spPr>
          <a:xfrm>
            <a:off x="812800" y="3453061"/>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5D8C"/>
                </a:solidFill>
                <a:latin typeface="JetBrains Mono" pitchFamily="49" charset="0"/>
                <a:ea typeface="JetBrains Mono" pitchFamily="49" charset="-122"/>
                <a:cs typeface="JetBrains Mono" pitchFamily="49" charset="-120"/>
              </a:rPr>
              <a:t>3</a:t>
            </a:r>
            <a:endParaRPr lang="en-US" sz="1600" dirty="0"/>
          </a:p>
        </p:txBody>
      </p:sp>
      <p:sp>
        <p:nvSpPr>
          <p:cNvPr id="12" name="Text 10"/>
          <p:cNvSpPr/>
          <p:nvPr/>
        </p:nvSpPr>
        <p:spPr>
          <a:xfrm>
            <a:off x="1447800" y="3472111"/>
            <a:ext cx="1022934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213A"/>
                </a:solidFill>
                <a:latin typeface="Rubik" pitchFamily="34" charset="0"/>
                <a:ea typeface="Rubik" pitchFamily="34" charset="-122"/>
                <a:cs typeface="Rubik" pitchFamily="34" charset="-120"/>
              </a:rPr>
              <a:t>The data setup matters as much as the model.</a:t>
            </a:r>
            <a:r>
              <a:rPr lang="en-US" sz="1500" dirty="0">
                <a:solidFill>
                  <a:srgbClr val="16213A"/>
                </a:solidFill>
                <a:latin typeface="Rubik" pitchFamily="34" charset="0"/>
                <a:ea typeface="Rubik" pitchFamily="34" charset="-122"/>
                <a:cs typeface="Rubik" pitchFamily="34" charset="-120"/>
              </a:rPr>
              <a:t> </a:t>
            </a:r>
            <a:r>
              <a:rPr lang="en-US" sz="1500" dirty="0">
                <a:solidFill>
                  <a:srgbClr val="4A5160"/>
                </a:solidFill>
                <a:latin typeface="Rubik" pitchFamily="34" charset="0"/>
                <a:ea typeface="Rubik" pitchFamily="34" charset="-122"/>
                <a:cs typeface="Rubik" pitchFamily="34" charset="-120"/>
              </a:rPr>
              <a:t>Review endings: 88.2% → 91.8%. Price interval: 61% → 42%.</a:t>
            </a:r>
            <a:endParaRPr lang="en-US" sz="1500" dirty="0"/>
          </a:p>
        </p:txBody>
      </p:sp>
      <p:sp>
        <p:nvSpPr>
          <p:cNvPr id="13" name="Shape 11"/>
          <p:cNvSpPr/>
          <p:nvPr/>
        </p:nvSpPr>
        <p:spPr>
          <a:xfrm>
            <a:off x="812800" y="3867696"/>
            <a:ext cx="10566400" cy="0"/>
          </a:xfrm>
          <a:prstGeom prst="line">
            <a:avLst/>
          </a:prstGeom>
          <a:noFill/>
          <a:ln w="6350">
            <a:solidFill>
              <a:srgbClr val="D8D3C7"/>
            </a:solidFill>
            <a:prstDash val="solid"/>
          </a:ln>
        </p:spPr>
      </p:sp>
      <p:sp>
        <p:nvSpPr>
          <p:cNvPr id="14" name="Text 12"/>
          <p:cNvSpPr/>
          <p:nvPr/>
        </p:nvSpPr>
        <p:spPr>
          <a:xfrm>
            <a:off x="812800" y="3997871"/>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5D8C"/>
                </a:solidFill>
                <a:latin typeface="JetBrains Mono" pitchFamily="49" charset="0"/>
                <a:ea typeface="JetBrains Mono" pitchFamily="49" charset="-122"/>
                <a:cs typeface="JetBrains Mono" pitchFamily="49" charset="-120"/>
              </a:rPr>
              <a:t>4</a:t>
            </a:r>
            <a:endParaRPr lang="en-US" sz="1600" dirty="0"/>
          </a:p>
        </p:txBody>
      </p:sp>
      <p:sp>
        <p:nvSpPr>
          <p:cNvPr id="15" name="Text 13"/>
          <p:cNvSpPr/>
          <p:nvPr/>
        </p:nvSpPr>
        <p:spPr>
          <a:xfrm>
            <a:off x="1447800" y="4016921"/>
            <a:ext cx="1022934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213A"/>
                </a:solidFill>
                <a:latin typeface="Rubik" pitchFamily="34" charset="0"/>
                <a:ea typeface="Rubik" pitchFamily="34" charset="-122"/>
                <a:cs typeface="Rubik" pitchFamily="34" charset="-120"/>
              </a:rPr>
              <a:t>Old patterns can stop working live.</a:t>
            </a:r>
            <a:r>
              <a:rPr lang="en-US" sz="1500" dirty="0">
                <a:solidFill>
                  <a:srgbClr val="16213A"/>
                </a:solidFill>
                <a:latin typeface="Rubik" pitchFamily="34" charset="0"/>
                <a:ea typeface="Rubik" pitchFamily="34" charset="-122"/>
                <a:cs typeface="Rubik" pitchFamily="34" charset="-120"/>
              </a:rPr>
              <a:t> </a:t>
            </a:r>
            <a:r>
              <a:rPr lang="en-US" sz="1500" dirty="0">
                <a:solidFill>
                  <a:srgbClr val="4A5160"/>
                </a:solidFill>
                <a:latin typeface="Rubik" pitchFamily="34" charset="0"/>
                <a:ea typeface="Rubik" pitchFamily="34" charset="-122"/>
                <a:cs typeface="Rubik" pitchFamily="34" charset="-120"/>
              </a:rPr>
              <a:t>A deployed model has to keep checking its own accuracy.</a:t>
            </a:r>
            <a:endParaRPr lang="en-US" sz="1500" dirty="0"/>
          </a:p>
        </p:txBody>
      </p:sp>
      <p:sp>
        <p:nvSpPr>
          <p:cNvPr id="16" name="Shape 14"/>
          <p:cNvSpPr/>
          <p:nvPr/>
        </p:nvSpPr>
        <p:spPr>
          <a:xfrm>
            <a:off x="812800" y="4412506"/>
            <a:ext cx="10566400" cy="0"/>
          </a:xfrm>
          <a:prstGeom prst="line">
            <a:avLst/>
          </a:prstGeom>
          <a:noFill/>
          <a:ln w="6350">
            <a:solidFill>
              <a:srgbClr val="D8D3C7"/>
            </a:solidFill>
            <a:prstDash val="solid"/>
          </a:ln>
        </p:spPr>
      </p:sp>
      <p:sp>
        <p:nvSpPr>
          <p:cNvPr id="17" name="Shape 15"/>
          <p:cNvSpPr/>
          <p:nvPr/>
        </p:nvSpPr>
        <p:spPr>
          <a:xfrm>
            <a:off x="812800" y="4957316"/>
            <a:ext cx="10566400" cy="0"/>
          </a:xfrm>
          <a:prstGeom prst="line">
            <a:avLst/>
          </a:prstGeom>
          <a:noFill/>
          <a:ln w="6350">
            <a:solidFill>
              <a:srgbClr val="D8D3C7"/>
            </a:solidFill>
            <a:prstDash val="solid"/>
          </a:ln>
        </p:spPr>
      </p:sp>
      <p:sp>
        <p:nvSpPr>
          <p:cNvPr id="18" name="Text 16"/>
          <p:cNvSpPr/>
          <p:nvPr/>
        </p:nvSpPr>
        <p:spPr>
          <a:xfrm>
            <a:off x="812800" y="4542681"/>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5D8C"/>
                </a:solidFill>
                <a:latin typeface="JetBrains Mono" pitchFamily="49" charset="0"/>
                <a:ea typeface="JetBrains Mono" pitchFamily="49" charset="-122"/>
                <a:cs typeface="JetBrains Mono" pitchFamily="49" charset="-120"/>
              </a:rPr>
              <a:t>5</a:t>
            </a:r>
            <a:endParaRPr lang="en-US" sz="1600" dirty="0"/>
          </a:p>
        </p:txBody>
      </p:sp>
      <p:sp>
        <p:nvSpPr>
          <p:cNvPr id="19" name="Text 17"/>
          <p:cNvSpPr/>
          <p:nvPr/>
        </p:nvSpPr>
        <p:spPr>
          <a:xfrm>
            <a:off x="1447800" y="4561731"/>
            <a:ext cx="1022934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213A"/>
                </a:solidFill>
                <a:latin typeface="Rubik" pitchFamily="34" charset="0"/>
                <a:ea typeface="Rubik" pitchFamily="34" charset="-122"/>
                <a:cs typeface="Rubik" pitchFamily="34" charset="-120"/>
              </a:rPr>
              <a:t>Training is noisy, so keep the best checkpoint.</a:t>
            </a:r>
            <a:r>
              <a:rPr lang="en-US" sz="1500" dirty="0">
                <a:solidFill>
                  <a:srgbClr val="16213A"/>
                </a:solidFill>
                <a:latin typeface="Rubik" pitchFamily="34" charset="0"/>
                <a:ea typeface="Rubik" pitchFamily="34" charset="-122"/>
                <a:cs typeface="Rubik" pitchFamily="34" charset="-120"/>
              </a:rPr>
              <a:t> </a:t>
            </a:r>
            <a:r>
              <a:rPr lang="en-US" sz="1500" dirty="0">
                <a:solidFill>
                  <a:srgbClr val="4A5160"/>
                </a:solidFill>
                <a:latin typeface="Rubik" pitchFamily="34" charset="0"/>
                <a:ea typeface="Rubik" pitchFamily="34" charset="-122"/>
                <a:cs typeface="Rubik" pitchFamily="34" charset="-120"/>
              </a:rPr>
              <a:t>DQN went 370 → 43 → 500. Validation saved me every time.</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8C"/>
                </a:solidFill>
                <a:latin typeface="Rubik" pitchFamily="34" charset="0"/>
                <a:ea typeface="Rubik" pitchFamily="34" charset="-122"/>
                <a:cs typeface="Rubik" pitchFamily="34" charset="-120"/>
              </a:rPr>
              <a:t>practice dl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B5541C"/>
        </a:solidFill>
      </p:bgPr>
    </p:bg>
    <p:spTree>
      <p:nvGrpSpPr>
        <p:cNvPr id="1" name=""/>
        <p:cNvGrpSpPr/>
        <p:nvPr/>
      </p:nvGrpSpPr>
      <p:grpSpPr>
        <a:xfrm>
          <a:off x="0" y="0"/>
          <a:ext cx="0" cy="0"/>
          <a:chOff x="0" y="0"/>
          <a:chExt cx="0" cy="0"/>
        </a:xfrm>
      </p:grpSpPr>
      <p:sp>
        <p:nvSpPr>
          <p:cNvPr id="2" name="Text 0"/>
          <p:cNvSpPr/>
          <p:nvPr/>
        </p:nvSpPr>
        <p:spPr>
          <a:xfrm>
            <a:off x="812800" y="185043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BF4EE"/>
                </a:solidFill>
                <a:latin typeface="JetBrains Mono" pitchFamily="49" charset="0"/>
                <a:ea typeface="JetBrains Mono" pitchFamily="49" charset="-122"/>
                <a:cs typeface="JetBrains Mono" pitchFamily="49" charset="-120"/>
              </a:rPr>
              <a:t>PRACTICE DL · DONE</a:t>
            </a:r>
            <a:endParaRPr lang="en-US" sz="1400" dirty="0"/>
          </a:p>
        </p:txBody>
      </p:sp>
      <p:sp>
        <p:nvSpPr>
          <p:cNvPr id="3" name="Text 1"/>
          <p:cNvSpPr/>
          <p:nvPr>
            <p:ph type="title"/>
          </p:nvPr>
        </p:nvSpPr>
        <p:spPr>
          <a:xfrm>
            <a:off x="812800" y="2353320"/>
            <a:ext cx="9810750" cy="210557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BF4EE"/>
                </a:solidFill>
                <a:latin typeface="Rubik" pitchFamily="34" charset="0"/>
                <a:ea typeface="Rubik" pitchFamily="34" charset="-122"/>
                <a:cs typeface="Rubik" pitchFamily="34" charset="-120"/>
              </a:rPr>
              <a:t>8 scripts, 4 topics, every model checked against a baseline.</a:t>
            </a:r>
            <a:endParaRPr lang="en-US" sz="5200" dirty="0"/>
          </a:p>
        </p:txBody>
      </p:sp>
      <p:sp>
        <p:nvSpPr>
          <p:cNvPr id="4" name="Text 2"/>
          <p:cNvSpPr/>
          <p:nvPr/>
        </p:nvSpPr>
        <p:spPr>
          <a:xfrm>
            <a:off x="812800" y="4687491"/>
            <a:ext cx="10668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BF4EE"/>
                </a:solidFill>
                <a:latin typeface="Rubik" pitchFamily="34" charset="0"/>
                <a:ea typeface="Rubik" pitchFamily="34" charset="-122"/>
                <a:cs typeface="Rubik" pitchFamily="34" charset="-120"/>
              </a:rPr>
              <a:t>Code, results and the full list of problems are in my README. [next step: ______]</a:t>
            </a:r>
            <a:endParaRPr lang="en-US" sz="1800" dirty="0"/>
          </a:p>
        </p:txBody>
      </p:sp>
    </p:spTree>
  </p:cSld>
  <p:clrMapOvr>
    <a:masterClrMapping/>
  </p:clrMapOvr>
</p:sld>
</file>

<file path=ppt/theme/theme1.xml><?xml version="1.0" encoding="utf-8"?>
<a:theme xmlns:a="http://schemas.openxmlformats.org/drawingml/2006/main" name="Practice DL">
  <a:themeElements>
    <a:clrScheme name="Practice DL">
      <a:dk1>
        <a:srgbClr val="16213A"/>
      </a:dk1>
      <a:lt1>
        <a:srgbClr val="F5F3EE"/>
      </a:lt1>
      <a:dk2>
        <a:srgbClr val="4E5667"/>
      </a:dk2>
      <a:lt2>
        <a:srgbClr val="DFDEDC"/>
      </a:lt2>
      <a:accent1>
        <a:srgbClr val="B5541C"/>
      </a:accent1>
      <a:accent2>
        <a:srgbClr val="F0A774"/>
      </a:accent2>
      <a:accent3>
        <a:srgbClr val="2F5D8C"/>
      </a:accent3>
      <a:accent4>
        <a:srgbClr val="4A5160"/>
      </a:accent4>
      <a:accent5>
        <a:srgbClr val="7A808C"/>
      </a:accent5>
      <a:accent6>
        <a:srgbClr val="C9D2E0"/>
      </a:accent6>
      <a:hlink>
        <a:srgbClr val="0563C1"/>
      </a:hlink>
      <a:folHlink>
        <a:srgbClr val="954F72"/>
      </a:folHlink>
    </a:clrScheme>
    <a:fontScheme name="Practice DL">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Practice DL</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2026-10-24T18:00:36Z</dcterms:created>
  <dcterms:modified xsi:type="dcterms:W3CDTF">2026-10-24T18:00:36Z</dcterms:modified>
</cp:coreProperties>
</file>